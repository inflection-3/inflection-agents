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20"/>
    <p:sldId id="257" r:id="rId3"/>
    <p:sldId id="258" r:id="rId4"/>
    <p:sldId id="260" r:id="rId6"/>
    <p:sldId id="270" r:id="rId21"/>
    <p:sldId id="261" r:id="rId7"/>
    <p:sldId id="271" r:id="rId22"/>
    <p:sldId id="262" r:id="rId8"/>
    <p:sldId id="263" r:id="rId9"/>
    <p:sldId id="264" r:id="rId10"/>
    <p:sldId id="267" r:id="rId13"/>
    <p:sldId id="266" r:id="rId12"/>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algn="l" indent="0" marL="0">
              <a:buNone/>
            </a:pPr>
            <a:r>
              <a:rPr lang="en-US" sz="1100" b="1" spc="400" kern="0" dirty="0">
                <a:solidFill>
                  <a:srgbClr val="BAFC00"/>
                </a:solidFill>
                <a:latin typeface="Inter" pitchFamily="34" charset="0"/>
                <a:ea typeface="Inter" pitchFamily="34" charset="-122"/>
                <a:cs typeface="Inter" pitchFamily="34" charset="-120"/>
              </a:rPr>
              <a:t>INFLECTION</a:t>
            </a:r>
            <a:endParaRPr lang="en-US" sz="1100" dirty="0"/>
          </a:p>
        </p:txBody>
      </p:sp>
      <p:sp>
        <p:nvSpPr>
          <p:cNvPr id="3" name="Text 1"/>
          <p:cNvSpPr/>
          <p:nvPr/>
        </p:nvSpPr>
        <p:spPr>
          <a:xfrm>
            <a:off x="5029200" y="365760"/>
            <a:ext cx="3657600" cy="274320"/>
          </a:xfrm>
          <a:prstGeom prst="rect">
            <a:avLst/>
          </a:prstGeom>
          <a:noFill/>
          <a:ln/>
        </p:spPr>
        <p:txBody>
          <a:bodyPr wrap="square" lIns="0" tIns="0" rIns="0" bIns="0" rtlCol="0" anchor="ctr"/>
          <a:lstStyle/>
          <a:p>
            <a:pPr algn="r" indent="0" marL="0">
              <a:buNone/>
            </a:pPr>
            <a:r>
              <a:rPr lang="en-US" sz="1100" spc="300" kern="0" dirty="0">
                <a:solidFill>
                  <a:srgbClr val="5A5A60"/>
                </a:solidFill>
                <a:latin typeface="Inter" pitchFamily="34" charset="0"/>
                <a:ea typeface="Inter" pitchFamily="34" charset="-122"/>
                <a:cs typeface="Inter" pitchFamily="34" charset="-120"/>
              </a:rPr>
              <a:t>PRE-SEED · 2026</a:t>
            </a:r>
            <a:endParaRPr lang="en-US" sz="1100" dirty="0"/>
          </a:p>
        </p:txBody>
      </p:sp>
      <p:sp>
        <p:nvSpPr>
          <p:cNvPr id="4" name="Text 2"/>
          <p:cNvSpPr/>
          <p:nvPr/>
        </p:nvSpPr>
        <p:spPr>
          <a:xfrm>
            <a:off x="457200" y="1188720"/>
            <a:ext cx="8229600" cy="2743200"/>
          </a:xfrm>
          <a:prstGeom prst="rect">
            <a:avLst/>
          </a:prstGeom>
          <a:noFill/>
          <a:ln/>
        </p:spPr>
        <p:txBody>
          <a:bodyPr wrap="square" lIns="0" tIns="0" rIns="0" bIns="0" rtlCol="0" anchor="t"/>
          <a:lstStyle/>
          <a:p>
            <a:pPr algn="l" indent="0" marL="0">
              <a:lnSpc>
                <a:spcPct val="105000"/>
              </a:lnSpc>
              <a:buNone/>
            </a:pPr>
            <a:r>
              <a:rPr lang="en-US" sz="4600" b="1" dirty="0">
                <a:solidFill>
                  <a:srgbClr val="FAFAFA"/>
                </a:solidFill>
                <a:latin typeface="Inter" pitchFamily="34" charset="0"/>
                <a:ea typeface="Inter" pitchFamily="34" charset="-122"/>
                <a:cs typeface="Inter" pitchFamily="34" charset="-120"/>
              </a:rPr>
              <a:t>The agent runtime</a:t>
            </a:r>
            <a:endParaRPr lang="en-US" sz="4600" dirty="0"/>
          </a:p>
          <a:p>
            <a:pPr algn="l" indent="0" marL="0">
              <a:lnSpc>
                <a:spcPct val="105000"/>
              </a:lnSpc>
              <a:buNone/>
            </a:pPr>
            <a:r>
              <a:rPr lang="en-US" sz="4600" b="1" dirty="0">
                <a:solidFill>
                  <a:srgbClr val="BAFC00"/>
                </a:solidFill>
                <a:latin typeface="Inter" pitchFamily="34" charset="0"/>
                <a:ea typeface="Inter" pitchFamily="34" charset="-122"/>
                <a:cs typeface="Inter" pitchFamily="34" charset="-120"/>
              </a:rPr>
              <a:t>for financial</a:t>
            </a:r>
            <a:endParaRPr lang="en-US" sz="4600" dirty="0"/>
          </a:p>
          <a:p>
            <a:pPr algn="l" indent="0" marL="0">
              <a:lnSpc>
                <a:spcPct val="105000"/>
              </a:lnSpc>
              <a:buNone/>
            </a:pPr>
            <a:r>
              <a:rPr lang="en-US" sz="4600" b="1" dirty="0">
                <a:solidFill>
                  <a:srgbClr val="BAFC00"/>
                </a:solidFill>
                <a:latin typeface="Inter" pitchFamily="34" charset="0"/>
                <a:ea typeface="Inter" pitchFamily="34" charset="-122"/>
                <a:cs typeface="Inter" pitchFamily="34" charset="-120"/>
              </a:rPr>
              <a:t>services.</a:t>
            </a:r>
            <a:endParaRPr lang="en-US" sz="4600" dirty="0"/>
          </a:p>
        </p:txBody>
      </p:sp>
      <p:sp>
        <p:nvSpPr>
          <p:cNvPr id="5" name="Text 3"/>
          <p:cNvSpPr/>
          <p:nvPr/>
        </p:nvSpPr>
        <p:spPr>
          <a:xfrm>
            <a:off x="457200" y="3931920"/>
            <a:ext cx="7772400" cy="548640"/>
          </a:xfrm>
          <a:prstGeom prst="rect">
            <a:avLst/>
          </a:prstGeom>
          <a:noFill/>
          <a:ln/>
        </p:spPr>
        <p:txBody>
          <a:bodyPr wrap="square" rtlCol="0" anchor="ctr"/>
          <a:lstStyle/>
          <a:p>
            <a:pPr algn="l" indent="0" marL="0">
              <a:lnSpc>
                <a:spcPct val="140000"/>
              </a:lnSpc>
              <a:buNone/>
            </a:pPr>
            <a:r>
              <a:rPr lang="en-US" sz="1200" dirty="0">
                <a:solidFill>
                  <a:srgbClr val="8B8B92"/>
                </a:solidFill>
                <a:latin typeface="Inter" pitchFamily="34" charset="0"/>
                <a:ea typeface="Inter" pitchFamily="34" charset="-122"/>
                <a:cs typeface="Inter" pitchFamily="34" charset="-120"/>
              </a:rPr>
              <a:t>Banks and fintechs are about to need AI agents inside their products. We give them the runtime — vault, audit trail, guardrails, UI — so they can ship in a week instead of building it for 18 months.</a:t>
            </a:r>
            <a:endParaRPr lang="en-US" sz="1200" dirty="0"/>
          </a:p>
        </p:txBody>
      </p:sp>
      <p:sp>
        <p:nvSpPr>
          <p:cNvPr id="6" name="Shape 4"/>
          <p:cNvSpPr/>
          <p:nvPr/>
        </p:nvSpPr>
        <p:spPr>
          <a:xfrm>
            <a:off x="457200" y="4663440"/>
            <a:ext cx="8229600" cy="0"/>
          </a:xfrm>
          <a:prstGeom prst="line">
            <a:avLst/>
          </a:prstGeom>
          <a:noFill/>
          <a:ln w="9525">
            <a:solidFill>
              <a:srgbClr val="26262A"/>
            </a:solidFill>
            <a:prstDash val="solid"/>
          </a:ln>
        </p:spPr>
      </p:sp>
      <p:sp>
        <p:nvSpPr>
          <p:cNvPr id="7" name="Text 5"/>
          <p:cNvSpPr/>
          <p:nvPr/>
        </p:nvSpPr>
        <p:spPr>
          <a:xfrm>
            <a:off x="457200" y="4800600"/>
            <a:ext cx="3657600" cy="274320"/>
          </a:xfrm>
          <a:prstGeom prst="rect">
            <a:avLst/>
          </a:prstGeom>
          <a:noFill/>
          <a:ln/>
        </p:spPr>
        <p:txBody>
          <a:bodyPr wrap="square" lIns="0" tIns="0" rIns="0" bIns="0" rtlCol="0" anchor="ctr"/>
          <a:lstStyle/>
          <a:p>
            <a:pPr algn="l" indent="0" marL="0">
              <a:buNone/>
            </a:pPr>
            <a:r>
              <a:rPr lang="en-US" sz="1100" dirty="0">
                <a:solidFill>
                  <a:srgbClr val="8B8B92"/>
                </a:solidFill>
                <a:latin typeface="Inter" pitchFamily="34" charset="0"/>
                <a:ea typeface="Inter" pitchFamily="34" charset="-122"/>
                <a:cs typeface="Inter" pitchFamily="34" charset="-120"/>
              </a:rPr>
              <a:t>inflection.ai</a:t>
            </a:r>
            <a:endParaRPr lang="en-US" sz="1100" dirty="0"/>
          </a:p>
        </p:txBody>
      </p:sp>
      <p:sp>
        <p:nvSpPr>
          <p:cNvPr id="8" name="Text 6"/>
          <p:cNvSpPr/>
          <p:nvPr/>
        </p:nvSpPr>
        <p:spPr>
          <a:xfrm>
            <a:off x="5029200" y="4800600"/>
            <a:ext cx="3657600" cy="274320"/>
          </a:xfrm>
          <a:prstGeom prst="rect">
            <a:avLst/>
          </a:prstGeom>
          <a:noFill/>
          <a:ln/>
        </p:spPr>
        <p:txBody>
          <a:bodyPr wrap="square" lIns="0" tIns="0" rIns="0" bIns="0" rtlCol="0" anchor="ctr"/>
          <a:lstStyle/>
          <a:p>
            <a:pPr algn="r" indent="0" marL="0">
              <a:buNone/>
            </a:pPr>
            <a:r>
              <a:rPr lang="en-US" sz="1100" dirty="0">
                <a:solidFill>
                  <a:srgbClr val="8B8B92"/>
                </a:solidFill>
                <a:latin typeface="Inter" pitchFamily="34" charset="0"/>
                <a:ea typeface="Inter" pitchFamily="34" charset="-122"/>
                <a:cs typeface="Inter" pitchFamily="34" charset="-120"/>
              </a:rPr>
              <a:t>Pratik · Chan · Tejas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02 · PROBLEM</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algn="l" indent="0" marL="0">
              <a:lnSpc>
                <a:spcPct val="110000"/>
              </a:lnSpc>
              <a:buNone/>
            </a:pPr>
            <a:r>
              <a:rPr lang="en-US" sz="4000" b="1" dirty="0">
                <a:solidFill>
                  <a:srgbClr val="FAFAFA"/>
                </a:solidFill>
                <a:latin typeface="Inter" pitchFamily="34" charset="0"/>
                <a:ea typeface="Inter" pitchFamily="34" charset="-122"/>
                <a:cs typeface="Inter" pitchFamily="34" charset="-120"/>
              </a:rPr>
              <a:t>What Maya wants requires</a:t>
            </a:r>
            <a:endParaRPr lang="en-US" sz="4000" dirty="0"/>
          </a:p>
          <a:p>
            <a:pPr algn="l" indent="0" marL="0">
              <a:lnSpc>
                <a:spcPct val="110000"/>
              </a:lnSpc>
              <a:buNone/>
            </a:pPr>
            <a:r>
              <a:rPr lang="en-US" sz="4000" b="1" dirty="0">
                <a:solidFill>
                  <a:srgbClr val="FAFAFA"/>
                </a:solidFill>
                <a:latin typeface="Inter" pitchFamily="34" charset="0"/>
                <a:ea typeface="Inter" pitchFamily="34" charset="-122"/>
                <a:cs typeface="Inter" pitchFamily="34" charset="-120"/>
              </a:rPr>
              <a:t>infrastructure banks don't have.</a:t>
            </a:r>
            <a:endParaRPr lang="en-US" sz="4000" dirty="0"/>
          </a:p>
        </p:txBody>
      </p:sp>
      <p:sp>
        <p:nvSpPr>
          <p:cNvPr id="4" name="Text 2"/>
          <p:cNvSpPr/>
          <p:nvPr/>
        </p:nvSpPr>
        <p:spPr>
          <a:xfrm>
            <a:off x="457200" y="2468880"/>
            <a:ext cx="8229600" cy="548640"/>
          </a:xfrm>
          <a:prstGeom prst="rect">
            <a:avLst/>
          </a:prstGeom>
          <a:noFill/>
          <a:ln/>
        </p:spPr>
        <p:txBody>
          <a:bodyPr wrap="square" rtlCol="0" anchor="ctr"/>
          <a:lstStyle/>
          <a:p>
            <a:pPr indent="0" marL="0">
              <a:lnSpc>
                <a:spcPct val="140000"/>
              </a:lnSpc>
              <a:buNone/>
            </a:pPr>
            <a:r>
              <a:rPr lang="en-US" sz="1400" dirty="0">
                <a:solidFill>
                  <a:srgbClr val="8B8B92"/>
                </a:solidFill>
                <a:latin typeface="Inter" pitchFamily="34" charset="0"/>
                <a:ea typeface="Inter" pitchFamily="34" charset="-122"/>
                <a:cs typeface="Inter" pitchFamily="34" charset="-120"/>
              </a:rPr>
              <a:t>Giving Maya that experience requires infra most teams spend 12–18 months building — if they ever ship at all. — one that moves money, books things, makes decisions — requires infrastructure most teams don't have:</a:t>
            </a:r>
            <a:endParaRPr lang="en-US" sz="1400" dirty="0"/>
          </a:p>
        </p:txBody>
      </p:sp>
      <p:sp>
        <p:nvSpPr>
          <p:cNvPr id="5" name="Shape 3"/>
          <p:cNvSpPr/>
          <p:nvPr/>
        </p:nvSpPr>
        <p:spPr>
          <a:xfrm>
            <a:off x="457200" y="3063240"/>
            <a:ext cx="3931920" cy="731520"/>
          </a:xfrm>
          <a:prstGeom prst="rect">
            <a:avLst/>
          </a:prstGeom>
          <a:solidFill>
            <a:srgbClr val="141416"/>
          </a:solidFill>
          <a:ln w="9525">
            <a:solidFill>
              <a:srgbClr val="26262A"/>
            </a:solidFill>
            <a:prstDash val="solid"/>
          </a:ln>
        </p:spPr>
        <p:txBody>
          <a:bodyPr/>
          <a:p/>
        </p:txBody>
      </p:sp>
      <p:sp>
        <p:nvSpPr>
          <p:cNvPr id="6" name="Text 4"/>
          <p:cNvSpPr/>
          <p:nvPr/>
        </p:nvSpPr>
        <p:spPr>
          <a:xfrm>
            <a:off x="640080" y="3172968"/>
            <a:ext cx="3566160" cy="274320"/>
          </a:xfrm>
          <a:prstGeom prst="rect">
            <a:avLst/>
          </a:prstGeom>
          <a:noFill/>
          <a:ln/>
        </p:spPr>
        <p:txBody>
          <a:bodyPr wrap="square" lIns="0" tIns="0" rIns="0" bIns="0" rtlCol="0" anchor="ctr"/>
          <a:lstStyle/>
          <a:p>
            <a:pPr algn="l" indent="0" marL="0">
              <a:buNone/>
            </a:pPr>
            <a:r>
              <a:rPr lang="en-US" sz="1300" b="1" dirty="0">
                <a:solidFill>
                  <a:srgbClr val="BAFC00"/>
                </a:solidFill>
                <a:latin typeface="Inter" pitchFamily="34" charset="0"/>
                <a:ea typeface="Inter" pitchFamily="34" charset="-122"/>
                <a:cs typeface="Inter" pitchFamily="34" charset="-120"/>
              </a:rPr>
              <a:t>Credential vault</a:t>
            </a:r>
            <a:endParaRPr lang="en-US" sz="1300" dirty="0"/>
          </a:p>
        </p:txBody>
      </p:sp>
      <p:sp>
        <p:nvSpPr>
          <p:cNvPr id="7" name="Text 5"/>
          <p:cNvSpPr/>
          <p:nvPr/>
        </p:nvSpPr>
        <p:spPr>
          <a:xfrm>
            <a:off x="640080" y="3447288"/>
            <a:ext cx="3566160" cy="365760"/>
          </a:xfrm>
          <a:prstGeom prst="rect">
            <a:avLst/>
          </a:prstGeom>
          <a:noFill/>
          <a:ln/>
        </p:spPr>
        <p:txBody>
          <a:bodyPr wrap="square" lIns="0" tIns="0" rIns="0" bIns="0" rtlCol="0" anchor="ctr"/>
          <a:lstStyle/>
          <a:p>
            <a:pPr algn="l" indent="0" marL="0">
              <a:buNone/>
            </a:pPr>
            <a:r>
              <a:rPr lang="en-US" sz="1100" dirty="0">
                <a:solidFill>
                  <a:srgbClr val="8B8B92"/>
                </a:solidFill>
                <a:latin typeface="Inter" pitchFamily="34" charset="0"/>
                <a:ea typeface="Inter" pitchFamily="34" charset="-122"/>
                <a:cs typeface="Inter" pitchFamily="34" charset="-120"/>
              </a:rPr>
              <a:t>Where do API keys live? Most teams store them wrong.</a:t>
            </a:r>
            <a:endParaRPr lang="en-US" sz="1100" dirty="0"/>
          </a:p>
        </p:txBody>
      </p:sp>
      <p:sp>
        <p:nvSpPr>
          <p:cNvPr id="8" name="Shape 6"/>
          <p:cNvSpPr/>
          <p:nvPr/>
        </p:nvSpPr>
        <p:spPr>
          <a:xfrm>
            <a:off x="4754880" y="3063240"/>
            <a:ext cx="3931920" cy="731520"/>
          </a:xfrm>
          <a:prstGeom prst="rect">
            <a:avLst/>
          </a:prstGeom>
          <a:solidFill>
            <a:srgbClr val="141416"/>
          </a:solidFill>
          <a:ln w="9525">
            <a:solidFill>
              <a:srgbClr val="26262A"/>
            </a:solidFill>
            <a:prstDash val="solid"/>
          </a:ln>
        </p:spPr>
        <p:txBody>
          <a:bodyPr/>
          <a:p/>
        </p:txBody>
      </p:sp>
      <p:sp>
        <p:nvSpPr>
          <p:cNvPr id="9" name="Text 7"/>
          <p:cNvSpPr/>
          <p:nvPr/>
        </p:nvSpPr>
        <p:spPr>
          <a:xfrm>
            <a:off x="4937760" y="3172968"/>
            <a:ext cx="3566160" cy="274320"/>
          </a:xfrm>
          <a:prstGeom prst="rect">
            <a:avLst/>
          </a:prstGeom>
          <a:noFill/>
          <a:ln/>
        </p:spPr>
        <p:txBody>
          <a:bodyPr wrap="square" lIns="0" tIns="0" rIns="0" bIns="0" rtlCol="0" anchor="ctr"/>
          <a:lstStyle/>
          <a:p>
            <a:pPr algn="l" indent="0" marL="0">
              <a:buNone/>
            </a:pPr>
            <a:r>
              <a:rPr lang="en-US" sz="1300" b="1" dirty="0">
                <a:solidFill>
                  <a:srgbClr val="BAFC00"/>
                </a:solidFill>
                <a:latin typeface="Inter" pitchFamily="34" charset="0"/>
                <a:ea typeface="Inter" pitchFamily="34" charset="-122"/>
                <a:cs typeface="Inter" pitchFamily="34" charset="-120"/>
              </a:rPr>
              <a:t>Tamper-proof audit</a:t>
            </a:r>
            <a:endParaRPr lang="en-US" sz="1300" dirty="0"/>
          </a:p>
        </p:txBody>
      </p:sp>
      <p:sp>
        <p:nvSpPr>
          <p:cNvPr id="10" name="Text 8"/>
          <p:cNvSpPr/>
          <p:nvPr/>
        </p:nvSpPr>
        <p:spPr>
          <a:xfrm>
            <a:off x="4937760" y="3447288"/>
            <a:ext cx="3566160" cy="365760"/>
          </a:xfrm>
          <a:prstGeom prst="rect">
            <a:avLst/>
          </a:prstGeom>
          <a:noFill/>
          <a:ln/>
        </p:spPr>
        <p:txBody>
          <a:bodyPr wrap="square" lIns="0" tIns="0" rIns="0" bIns="0" rtlCol="0" anchor="ctr"/>
          <a:lstStyle/>
          <a:p>
            <a:pPr algn="l" indent="0" marL="0">
              <a:buNone/>
            </a:pPr>
            <a:r>
              <a:rPr lang="en-US" sz="1100" dirty="0">
                <a:solidFill>
                  <a:srgbClr val="8B8B92"/>
                </a:solidFill>
                <a:latin typeface="Inter" pitchFamily="34" charset="0"/>
                <a:ea typeface="Inter" pitchFamily="34" charset="-122"/>
                <a:cs typeface="Inter" pitchFamily="34" charset="-120"/>
              </a:rPr>
              <a:t>Compliance won't accept "we think it worked."</a:t>
            </a:r>
            <a:endParaRPr lang="en-US" sz="1100" dirty="0"/>
          </a:p>
        </p:txBody>
      </p:sp>
      <p:sp>
        <p:nvSpPr>
          <p:cNvPr id="11" name="Shape 9"/>
          <p:cNvSpPr/>
          <p:nvPr/>
        </p:nvSpPr>
        <p:spPr>
          <a:xfrm>
            <a:off x="457200" y="3931920"/>
            <a:ext cx="3931920" cy="731520"/>
          </a:xfrm>
          <a:prstGeom prst="rect">
            <a:avLst/>
          </a:prstGeom>
          <a:solidFill>
            <a:srgbClr val="141416"/>
          </a:solidFill>
          <a:ln w="9525">
            <a:solidFill>
              <a:srgbClr val="26262A"/>
            </a:solidFill>
            <a:prstDash val="solid"/>
          </a:ln>
        </p:spPr>
        <p:txBody>
          <a:bodyPr/>
          <a:p/>
        </p:txBody>
      </p:sp>
      <p:sp>
        <p:nvSpPr>
          <p:cNvPr id="12" name="Text 10"/>
          <p:cNvSpPr/>
          <p:nvPr/>
        </p:nvSpPr>
        <p:spPr>
          <a:xfrm>
            <a:off x="640080" y="4041648"/>
            <a:ext cx="3566160" cy="274320"/>
          </a:xfrm>
          <a:prstGeom prst="rect">
            <a:avLst/>
          </a:prstGeom>
          <a:noFill/>
          <a:ln/>
        </p:spPr>
        <p:txBody>
          <a:bodyPr wrap="square" lIns="0" tIns="0" rIns="0" bIns="0" rtlCol="0" anchor="ctr"/>
          <a:lstStyle/>
          <a:p>
            <a:pPr algn="l" indent="0" marL="0">
              <a:buNone/>
            </a:pPr>
            <a:r>
              <a:rPr lang="en-US" sz="1300" b="1" dirty="0">
                <a:solidFill>
                  <a:srgbClr val="BAFC00"/>
                </a:solidFill>
                <a:latin typeface="Inter" pitchFamily="34" charset="0"/>
                <a:ea typeface="Inter" pitchFamily="34" charset="-122"/>
                <a:cs typeface="Inter" pitchFamily="34" charset="-120"/>
              </a:rPr>
              <a:t>Hard guardrails</a:t>
            </a:r>
            <a:endParaRPr lang="en-US" sz="1300" dirty="0"/>
          </a:p>
        </p:txBody>
      </p:sp>
      <p:sp>
        <p:nvSpPr>
          <p:cNvPr id="13" name="Text 11"/>
          <p:cNvSpPr/>
          <p:nvPr/>
        </p:nvSpPr>
        <p:spPr>
          <a:xfrm>
            <a:off x="640080" y="4315968"/>
            <a:ext cx="3566160" cy="365760"/>
          </a:xfrm>
          <a:prstGeom prst="rect">
            <a:avLst/>
          </a:prstGeom>
          <a:noFill/>
          <a:ln/>
        </p:spPr>
        <p:txBody>
          <a:bodyPr wrap="square" lIns="0" tIns="0" rIns="0" bIns="0" rtlCol="0" anchor="ctr"/>
          <a:lstStyle/>
          <a:p>
            <a:pPr algn="l" indent="0" marL="0">
              <a:buNone/>
            </a:pPr>
            <a:r>
              <a:rPr lang="en-US" sz="1100" dirty="0">
                <a:solidFill>
                  <a:srgbClr val="8B8B92"/>
                </a:solidFill>
                <a:latin typeface="Inter" pitchFamily="34" charset="0"/>
                <a:ea typeface="Inter" pitchFamily="34" charset="-122"/>
                <a:cs typeface="Inter" pitchFamily="34" charset="-120"/>
              </a:rPr>
              <a:t>What can the agent do? What needs human approval?</a:t>
            </a:r>
            <a:endParaRPr lang="en-US" sz="1100" dirty="0"/>
          </a:p>
        </p:txBody>
      </p:sp>
      <p:sp>
        <p:nvSpPr>
          <p:cNvPr id="14" name="Shape 12"/>
          <p:cNvSpPr/>
          <p:nvPr/>
        </p:nvSpPr>
        <p:spPr>
          <a:xfrm>
            <a:off x="4754880" y="3931920"/>
            <a:ext cx="3931920" cy="731520"/>
          </a:xfrm>
          <a:prstGeom prst="rect">
            <a:avLst/>
          </a:prstGeom>
          <a:solidFill>
            <a:srgbClr val="141416"/>
          </a:solidFill>
          <a:ln w="9525">
            <a:solidFill>
              <a:srgbClr val="26262A"/>
            </a:solidFill>
            <a:prstDash val="solid"/>
          </a:ln>
        </p:spPr>
        <p:txBody>
          <a:bodyPr/>
          <a:p/>
        </p:txBody>
      </p:sp>
      <p:sp>
        <p:nvSpPr>
          <p:cNvPr id="15" name="Text 13"/>
          <p:cNvSpPr/>
          <p:nvPr/>
        </p:nvSpPr>
        <p:spPr>
          <a:xfrm>
            <a:off x="4937760" y="4041648"/>
            <a:ext cx="3566160" cy="274320"/>
          </a:xfrm>
          <a:prstGeom prst="rect">
            <a:avLst/>
          </a:prstGeom>
          <a:noFill/>
          <a:ln/>
        </p:spPr>
        <p:txBody>
          <a:bodyPr wrap="square" lIns="0" tIns="0" rIns="0" bIns="0" rtlCol="0" anchor="ctr"/>
          <a:lstStyle/>
          <a:p>
            <a:pPr algn="l" indent="0" marL="0">
              <a:buNone/>
            </a:pPr>
            <a:r>
              <a:rPr lang="en-US" sz="1300" b="1" dirty="0">
                <a:solidFill>
                  <a:srgbClr val="BAFC00"/>
                </a:solidFill>
                <a:latin typeface="Inter" pitchFamily="34" charset="0"/>
                <a:ea typeface="Inter" pitchFamily="34" charset="-122"/>
                <a:cs typeface="Inter" pitchFamily="34" charset="-120"/>
              </a:rPr>
              <a:t>Rollback + streaming UI</a:t>
            </a:r>
            <a:endParaRPr lang="en-US" sz="1300" dirty="0"/>
          </a:p>
        </p:txBody>
      </p:sp>
      <p:sp>
        <p:nvSpPr>
          <p:cNvPr id="16" name="Text 14"/>
          <p:cNvSpPr/>
          <p:nvPr/>
        </p:nvSpPr>
        <p:spPr>
          <a:xfrm>
            <a:off x="4937760" y="4315968"/>
            <a:ext cx="3566160" cy="365760"/>
          </a:xfrm>
          <a:prstGeom prst="rect">
            <a:avLst/>
          </a:prstGeom>
          <a:noFill/>
          <a:ln/>
        </p:spPr>
        <p:txBody>
          <a:bodyPr wrap="square" lIns="0" tIns="0" rIns="0" bIns="0" rtlCol="0" anchor="ctr"/>
          <a:lstStyle/>
          <a:p>
            <a:pPr algn="l" indent="0" marL="0">
              <a:buNone/>
            </a:pPr>
            <a:r>
              <a:rPr lang="en-US" sz="1100" dirty="0">
                <a:solidFill>
                  <a:srgbClr val="8B8B92"/>
                </a:solidFill>
                <a:latin typeface="Inter" pitchFamily="34" charset="0"/>
                <a:ea typeface="Inter" pitchFamily="34" charset="-122"/>
                <a:cs typeface="Inter" pitchFamily="34" charset="-120"/>
              </a:rPr>
              <a:t>Users need to see every step and undo mistakes.</a:t>
            </a:r>
            <a:endParaRPr lang="en-US" sz="1100" dirty="0"/>
          </a:p>
        </p:txBody>
      </p:sp>
      <p:sp>
        <p:nvSpPr>
          <p:cNvPr id="17" name="Text 15"/>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03</a:t>
            </a:r>
            <a:endParaRPr lang="en-US" sz="900" dirty="0"/>
          </a:p>
        </p:txBody>
      </p:sp>
      <p:sp>
        <p:nvSpPr>
          <p:cNvPr id="18" name="Text 16"/>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PROBLEM</a:t>
            </a:r>
            <a:endParaRPr lang="en-US" sz="900" dirty="0"/>
          </a:p>
        </p:txBody>
      </p:sp>
      <p:sp>
        <p:nvSpPr>
          <p:cNvPr id="19" name="Text 17"/>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03 · WHY NOW</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indent="0" marL="0">
              <a:lnSpc>
                <a:spcPct val="110000"/>
              </a:lnSpc>
              <a:buNone/>
            </a:pPr>
            <a:r>
              <a:rPr lang="en-US" sz="4000" b="1" dirty="0">
                <a:solidFill>
                  <a:srgbClr val="FAFAFA"/>
                </a:solidFill>
                <a:latin typeface="Inter" pitchFamily="34" charset="0"/>
                <a:ea typeface="Inter" pitchFamily="34" charset="-122"/>
                <a:cs typeface="Inter" pitchFamily="34" charset="-120"/>
              </a:rPr>
              <a:t>The 18-month window</a:t>
            </a:r>
            <a:endParaRPr lang="en-US" sz="4000" dirty="0"/>
          </a:p>
          <a:p>
            <a:pPr indent="0" marL="0">
              <a:lnSpc>
                <a:spcPct val="110000"/>
              </a:lnSpc>
              <a:buNone/>
            </a:pPr>
            <a:r>
              <a:rPr lang="en-US" sz="4000" b="1" dirty="0">
                <a:solidFill>
                  <a:srgbClr val="FAFAFA"/>
                </a:solidFill>
                <a:latin typeface="Inter" pitchFamily="34" charset="0"/>
                <a:ea typeface="Inter" pitchFamily="34" charset="-122"/>
                <a:cs typeface="Inter" pitchFamily="34" charset="-120"/>
              </a:rPr>
              <a:t>is open right now.</a:t>
            </a:r>
            <a:endParaRPr lang="en-US" sz="4000" dirty="0"/>
          </a:p>
        </p:txBody>
      </p:sp>
      <p:sp>
        <p:nvSpPr>
          <p:cNvPr id="4" name="Text 2"/>
          <p:cNvSpPr/>
          <p:nvPr/>
        </p:nvSpPr>
        <p:spPr>
          <a:xfrm>
            <a:off x="457200" y="2468880"/>
            <a:ext cx="2743200" cy="914400"/>
          </a:xfrm>
          <a:prstGeom prst="rect">
            <a:avLst/>
          </a:prstGeom>
          <a:noFill/>
          <a:ln/>
        </p:spPr>
        <p:txBody>
          <a:bodyPr wrap="square" lIns="0" tIns="0" rIns="0" bIns="0" rtlCol="0" anchor="ctr"/>
          <a:lstStyle/>
          <a:p>
            <a:pPr algn="l" indent="0" marL="0">
              <a:buNone/>
            </a:pPr>
            <a:r>
              <a:rPr lang="en-US" sz="6400" b="1" dirty="0">
                <a:solidFill>
                  <a:srgbClr val="BAFC00"/>
                </a:solidFill>
                <a:latin typeface="Inter" pitchFamily="34" charset="0"/>
                <a:ea typeface="Inter" pitchFamily="34" charset="-122"/>
                <a:cs typeface="Inter" pitchFamily="34" charset="-120"/>
              </a:rPr>
              <a:t>$0</a:t>
            </a:r>
            <a:endParaRPr lang="en-US" sz="6400" dirty="0"/>
          </a:p>
        </p:txBody>
      </p:sp>
      <p:sp>
        <p:nvSpPr>
          <p:cNvPr id="5" name="Text 3"/>
          <p:cNvSpPr/>
          <p:nvPr/>
        </p:nvSpPr>
        <p:spPr>
          <a:xfrm>
            <a:off x="457200" y="3429000"/>
            <a:ext cx="2560320" cy="640080"/>
          </a:xfrm>
          <a:prstGeom prst="rect">
            <a:avLst/>
          </a:prstGeom>
          <a:noFill/>
          <a:ln/>
        </p:spPr>
        <p:txBody>
          <a:bodyPr wrap="square" lIns="0" tIns="0" rIns="0" bIns="0" rtlCol="0" anchor="ctr"/>
          <a:lstStyle/>
          <a:p>
            <a:pPr algn="l" indent="0" marL="0">
              <a:lnSpc>
                <a:spcPct val="130000"/>
              </a:lnSpc>
              <a:buNone/>
            </a:pPr>
            <a:r>
              <a:rPr lang="en-US" sz="1200" dirty="0">
                <a:solidFill>
                  <a:srgbClr val="8B8B92"/>
                </a:solidFill>
                <a:latin typeface="Inter" pitchFamily="34" charset="0"/>
                <a:ea typeface="Inter" pitchFamily="34" charset="-122"/>
                <a:cs typeface="Inter" pitchFamily="34" charset="-120"/>
              </a:rPr>
              <a:t>agent revenue in financial</a:t>
            </a:r>
            <a:endParaRPr lang="en-US" sz="1200" dirty="0"/>
          </a:p>
          <a:p>
            <a:pPr algn="l" indent="0" marL="0">
              <a:lnSpc>
                <a:spcPct val="130000"/>
              </a:lnSpc>
              <a:buNone/>
            </a:pPr>
            <a:r>
              <a:rPr lang="en-US" sz="1200" dirty="0">
                <a:solidFill>
                  <a:srgbClr val="8B8B92"/>
                </a:solidFill>
                <a:latin typeface="Inter" pitchFamily="34" charset="0"/>
                <a:ea typeface="Inter" pitchFamily="34" charset="-122"/>
                <a:cs typeface="Inter" pitchFamily="34" charset="-120"/>
              </a:rPr>
              <a:t>services today</a:t>
            </a:r>
            <a:endParaRPr lang="en-US" sz="1200" dirty="0"/>
          </a:p>
        </p:txBody>
      </p:sp>
      <p:sp>
        <p:nvSpPr>
          <p:cNvPr id="6" name="Text 4"/>
          <p:cNvSpPr/>
          <p:nvPr/>
        </p:nvSpPr>
        <p:spPr>
          <a:xfrm>
            <a:off x="3200400" y="2468880"/>
            <a:ext cx="2743200" cy="914400"/>
          </a:xfrm>
          <a:prstGeom prst="rect">
            <a:avLst/>
          </a:prstGeom>
          <a:noFill/>
          <a:ln/>
        </p:spPr>
        <p:txBody>
          <a:bodyPr wrap="square" lIns="0" tIns="0" rIns="0" bIns="0" rtlCol="0" anchor="ctr"/>
          <a:lstStyle/>
          <a:p>
            <a:pPr algn="l" indent="0" marL="0">
              <a:buNone/>
            </a:pPr>
            <a:r>
              <a:rPr lang="en-US" sz="6400" b="1" dirty="0">
                <a:solidFill>
                  <a:srgbClr val="BAFC00"/>
                </a:solidFill>
                <a:latin typeface="Inter" pitchFamily="34" charset="0"/>
                <a:ea typeface="Inter" pitchFamily="34" charset="-122"/>
                <a:cs typeface="Inter" pitchFamily="34" charset="-120"/>
              </a:rPr>
              <a:t>18mo</a:t>
            </a:r>
            <a:endParaRPr lang="en-US" sz="6400" dirty="0"/>
          </a:p>
        </p:txBody>
      </p:sp>
      <p:sp>
        <p:nvSpPr>
          <p:cNvPr id="7" name="Text 5"/>
          <p:cNvSpPr/>
          <p:nvPr/>
        </p:nvSpPr>
        <p:spPr>
          <a:xfrm>
            <a:off x="3200400" y="3429000"/>
            <a:ext cx="2560320" cy="640080"/>
          </a:xfrm>
          <a:prstGeom prst="rect">
            <a:avLst/>
          </a:prstGeom>
          <a:noFill/>
          <a:ln/>
        </p:spPr>
        <p:txBody>
          <a:bodyPr wrap="square" lIns="0" tIns="0" rIns="0" bIns="0" rtlCol="0" anchor="ctr"/>
          <a:lstStyle/>
          <a:p>
            <a:pPr algn="l" indent="0" marL="0">
              <a:lnSpc>
                <a:spcPct val="130000"/>
              </a:lnSpc>
              <a:buNone/>
            </a:pPr>
            <a:r>
              <a:rPr lang="en-US" sz="1200" dirty="0">
                <a:solidFill>
                  <a:srgbClr val="8B8B92"/>
                </a:solidFill>
                <a:latin typeface="Inter" pitchFamily="34" charset="0"/>
                <a:ea typeface="Inter" pitchFamily="34" charset="-122"/>
                <a:cs typeface="Inter" pitchFamily="34" charset="-120"/>
              </a:rPr>
              <a:t>before AWS / Google ship</a:t>
            </a:r>
            <a:endParaRPr lang="en-US" sz="1200" dirty="0"/>
          </a:p>
          <a:p>
            <a:pPr algn="l" indent="0" marL="0">
              <a:lnSpc>
                <a:spcPct val="130000"/>
              </a:lnSpc>
              <a:buNone/>
            </a:pPr>
            <a:r>
              <a:rPr lang="en-US" sz="1200" dirty="0">
                <a:solidFill>
                  <a:srgbClr val="8B8B92"/>
                </a:solidFill>
                <a:latin typeface="Inter" pitchFamily="34" charset="0"/>
                <a:ea typeface="Inter" pitchFamily="34" charset="-122"/>
                <a:cs typeface="Inter" pitchFamily="34" charset="-120"/>
              </a:rPr>
              <a:t>a competing platform</a:t>
            </a:r>
            <a:endParaRPr lang="en-US" sz="1200" dirty="0"/>
          </a:p>
        </p:txBody>
      </p:sp>
      <p:sp>
        <p:nvSpPr>
          <p:cNvPr id="8" name="Text 6"/>
          <p:cNvSpPr/>
          <p:nvPr/>
        </p:nvSpPr>
        <p:spPr>
          <a:xfrm>
            <a:off x="5943600" y="2468880"/>
            <a:ext cx="2743200" cy="914400"/>
          </a:xfrm>
          <a:prstGeom prst="rect">
            <a:avLst/>
          </a:prstGeom>
          <a:noFill/>
          <a:ln/>
        </p:spPr>
        <p:txBody>
          <a:bodyPr wrap="square" lIns="0" tIns="0" rIns="0" bIns="0" rtlCol="0" anchor="ctr"/>
          <a:lstStyle/>
          <a:p>
            <a:pPr algn="l" indent="0" marL="0">
              <a:buNone/>
            </a:pPr>
            <a:r>
              <a:rPr lang="en-US" sz="6400" b="1" dirty="0">
                <a:solidFill>
                  <a:srgbClr val="BAFC00"/>
                </a:solidFill>
                <a:latin typeface="Inter" pitchFamily="34" charset="0"/>
                <a:ea typeface="Inter" pitchFamily="34" charset="-122"/>
                <a:cs typeface="Inter" pitchFamily="34" charset="-120"/>
              </a:rPr>
              <a:t>12k+</a:t>
            </a:r>
            <a:endParaRPr lang="en-US" sz="6400" dirty="0"/>
          </a:p>
        </p:txBody>
      </p:sp>
      <p:sp>
        <p:nvSpPr>
          <p:cNvPr id="9" name="Text 7"/>
          <p:cNvSpPr/>
          <p:nvPr/>
        </p:nvSpPr>
        <p:spPr>
          <a:xfrm>
            <a:off x="5943600" y="3429000"/>
            <a:ext cx="2560320" cy="640080"/>
          </a:xfrm>
          <a:prstGeom prst="rect">
            <a:avLst/>
          </a:prstGeom>
          <a:noFill/>
          <a:ln/>
        </p:spPr>
        <p:txBody>
          <a:bodyPr wrap="square" lIns="0" tIns="0" rIns="0" bIns="0" rtlCol="0" anchor="ctr"/>
          <a:lstStyle/>
          <a:p>
            <a:pPr algn="l" indent="0" marL="0">
              <a:lnSpc>
                <a:spcPct val="130000"/>
              </a:lnSpc>
              <a:buNone/>
            </a:pPr>
            <a:r>
              <a:rPr lang="en-US" sz="1200" dirty="0">
                <a:solidFill>
                  <a:srgbClr val="8B8B92"/>
                </a:solidFill>
                <a:latin typeface="Inter" pitchFamily="34" charset="0"/>
                <a:ea typeface="Inter" pitchFamily="34" charset="-122"/>
                <a:cs typeface="Inter" pitchFamily="34" charset="-120"/>
              </a:rPr>
              <a:t>regulated fintechs globally</a:t>
            </a:r>
            <a:endParaRPr lang="en-US" sz="1200" dirty="0"/>
          </a:p>
          <a:p>
            <a:pPr algn="l" indent="0" marL="0">
              <a:lnSpc>
                <a:spcPct val="130000"/>
              </a:lnSpc>
              <a:buNone/>
            </a:pPr>
            <a:r>
              <a:rPr lang="en-US" sz="1200" dirty="0">
                <a:solidFill>
                  <a:srgbClr val="8B8B92"/>
                </a:solidFill>
                <a:latin typeface="Inter" pitchFamily="34" charset="0"/>
                <a:ea typeface="Inter" pitchFamily="34" charset="-122"/>
                <a:cs typeface="Inter" pitchFamily="34" charset="-120"/>
              </a:rPr>
              <a:t>will need this layer</a:t>
            </a:r>
            <a:endParaRPr lang="en-US" sz="1200" dirty="0"/>
          </a:p>
        </p:txBody>
      </p:sp>
      <p:sp>
        <p:nvSpPr>
          <p:cNvPr id="10" name="Text 8"/>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04</a:t>
            </a:r>
            <a:endParaRPr lang="en-US" sz="900" dirty="0"/>
          </a:p>
        </p:txBody>
      </p:sp>
      <p:sp>
        <p:nvSpPr>
          <p:cNvPr id="11" name="Text 9"/>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WHY NOW</a:t>
            </a:r>
            <a:endParaRPr lang="en-US" sz="900" dirty="0"/>
          </a:p>
        </p:txBody>
      </p:sp>
      <p:sp>
        <p:nvSpPr>
          <p:cNvPr id="12" name="Text 10"/>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03 · THE SHIFT</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indent="0" marL="0">
              <a:lnSpc>
                <a:spcPct val="110000"/>
              </a:lnSpc>
              <a:buNone/>
            </a:pPr>
            <a:r>
              <a:rPr lang="en-US" sz="3600" b="1" dirty="0">
                <a:solidFill>
                  <a:srgbClr val="FAFAFA"/>
                </a:solidFill>
                <a:latin typeface="Inter" pitchFamily="34" charset="0"/>
                <a:ea typeface="Inter" pitchFamily="34" charset="-122"/>
                <a:cs typeface="Inter" pitchFamily="34" charset="-120"/>
              </a:rPr>
              <a:t>Customer behavior is changing</a:t>
            </a:r>
            <a:endParaRPr lang="en-US" sz="3600" dirty="0"/>
          </a:p>
          <a:p>
            <a:pPr indent="0" marL="0">
              <a:lnSpc>
                <a:spcPct val="110000"/>
              </a:lnSpc>
              <a:buNone/>
            </a:pPr>
            <a:r>
              <a:rPr lang="en-US" sz="3600" b="1" dirty="0">
                <a:solidFill>
                  <a:srgbClr val="FAFAFA"/>
                </a:solidFill>
                <a:latin typeface="Inter" pitchFamily="34" charset="0"/>
                <a:ea typeface="Inter" pitchFamily="34" charset="-122"/>
                <a:cs typeface="Inter" pitchFamily="34" charset="-120"/>
              </a:rPr>
              <a:t>faster than banks can build.</a:t>
            </a:r>
            <a:endParaRPr lang="en-US" sz="3600" dirty="0"/>
          </a:p>
        </p:txBody>
      </p:sp>
      <p:sp>
        <p:nvSpPr>
          <p:cNvPr id="4" name="Shape 2"/>
          <p:cNvSpPr/>
          <p:nvPr/>
        </p:nvSpPr>
        <p:spPr>
          <a:xfrm>
            <a:off x="457200" y="2560320"/>
            <a:ext cx="3931920" cy="1920240"/>
          </a:xfrm>
          <a:prstGeom prst="rect">
            <a:avLst/>
          </a:prstGeom>
          <a:solidFill>
            <a:srgbClr val="141416"/>
          </a:solidFill>
          <a:ln w="9525">
            <a:solidFill>
              <a:srgbClr val="26262A"/>
            </a:solidFill>
            <a:prstDash val="solid"/>
          </a:ln>
        </p:spPr>
      </p:sp>
      <p:sp>
        <p:nvSpPr>
          <p:cNvPr id="5" name="Text 3"/>
          <p:cNvSpPr/>
          <p:nvPr/>
        </p:nvSpPr>
        <p:spPr>
          <a:xfrm>
            <a:off x="640080" y="2743200"/>
            <a:ext cx="3566160" cy="274320"/>
          </a:xfrm>
          <a:prstGeom prst="rect">
            <a:avLst/>
          </a:prstGeom>
          <a:noFill/>
          <a:ln/>
        </p:spPr>
        <p:txBody>
          <a:bodyPr wrap="square" lIns="0" tIns="0" rIns="0" bIns="0" rtlCol="0" anchor="ctr"/>
          <a:lstStyle/>
          <a:p>
            <a:pPr indent="0" marL="0">
              <a:buNone/>
            </a:pPr>
            <a:r>
              <a:rPr lang="en-US" sz="1000" b="1" spc="300" kern="0" dirty="0">
                <a:solidFill>
                  <a:srgbClr val="5A5A60"/>
                </a:solidFill>
                <a:latin typeface="Inter" pitchFamily="34" charset="0"/>
                <a:ea typeface="Inter" pitchFamily="34" charset="-122"/>
                <a:cs typeface="Inter" pitchFamily="34" charset="-120"/>
              </a:rPr>
              <a:t>YESTERDAY</a:t>
            </a:r>
            <a:endParaRPr lang="en-US" sz="1000" dirty="0"/>
          </a:p>
        </p:txBody>
      </p:sp>
      <p:sp>
        <p:nvSpPr>
          <p:cNvPr id="6" name="Text 4"/>
          <p:cNvSpPr/>
          <p:nvPr/>
        </p:nvSpPr>
        <p:spPr>
          <a:xfrm>
            <a:off x="640080" y="3200400"/>
            <a:ext cx="3566160" cy="1097280"/>
          </a:xfrm>
          <a:prstGeom prst="rect">
            <a:avLst/>
          </a:prstGeom>
          <a:noFill/>
          <a:ln/>
        </p:spPr>
        <p:txBody>
          <a:bodyPr wrap="square" lIns="0" tIns="0" rIns="0" bIns="0" rtlCol="0" anchor="ctr"/>
          <a:lstStyle/>
          <a:p>
            <a:pPr indent="0" marL="0">
              <a:lnSpc>
                <a:spcPct val="140000"/>
              </a:lnSpc>
              <a:buNone/>
            </a:pPr>
            <a:r>
              <a:rPr lang="en-US" sz="1400" dirty="0">
                <a:solidFill>
                  <a:srgbClr val="8B8B92"/>
                </a:solidFill>
                <a:latin typeface="Inter" pitchFamily="34" charset="0"/>
                <a:ea typeface="Inter" pitchFamily="34" charset="-122"/>
                <a:cs typeface="Inter" pitchFamily="34" charset="-120"/>
              </a:rPr>
              <a:t>Maya opens her banking app,</a:t>
            </a:r>
            <a:endParaRPr lang="en-US" sz="1400" dirty="0"/>
          </a:p>
          <a:p>
            <a:pPr indent="0" marL="0">
              <a:lnSpc>
                <a:spcPct val="140000"/>
              </a:lnSpc>
              <a:buNone/>
            </a:pPr>
            <a:r>
              <a:rPr lang="en-US" sz="1400" dirty="0">
                <a:solidFill>
                  <a:srgbClr val="8B8B92"/>
                </a:solidFill>
                <a:latin typeface="Inter" pitchFamily="34" charset="0"/>
                <a:ea typeface="Inter" pitchFamily="34" charset="-122"/>
                <a:cs typeface="Inter" pitchFamily="34" charset="-120"/>
              </a:rPr>
              <a:t>clicks through 4 screens,</a:t>
            </a:r>
            <a:endParaRPr lang="en-US" sz="1400" dirty="0"/>
          </a:p>
          <a:p>
            <a:pPr indent="0" marL="0">
              <a:lnSpc>
                <a:spcPct val="140000"/>
              </a:lnSpc>
              <a:buNone/>
            </a:pPr>
            <a:r>
              <a:rPr lang="en-US" sz="1400" dirty="0">
                <a:solidFill>
                  <a:srgbClr val="8B8B92"/>
                </a:solidFill>
                <a:latin typeface="Inter" pitchFamily="34" charset="0"/>
                <a:ea typeface="Inter" pitchFamily="34" charset="-122"/>
                <a:cs typeface="Inter" pitchFamily="34" charset="-120"/>
              </a:rPr>
              <a:t>finds the dashboard,</a:t>
            </a:r>
            <a:endParaRPr lang="en-US" sz="1400" dirty="0"/>
          </a:p>
          <a:p>
            <a:pPr indent="0" marL="0">
              <a:lnSpc>
                <a:spcPct val="140000"/>
              </a:lnSpc>
              <a:buNone/>
            </a:pPr>
            <a:r>
              <a:rPr lang="en-US" sz="1400" dirty="0">
                <a:solidFill>
                  <a:srgbClr val="8B8B92"/>
                </a:solidFill>
                <a:latin typeface="Inter" pitchFamily="34" charset="0"/>
                <a:ea typeface="Inter" pitchFamily="34" charset="-122"/>
                <a:cs typeface="Inter" pitchFamily="34" charset="-120"/>
              </a:rPr>
              <a:t>reads her balance.</a:t>
            </a:r>
            <a:endParaRPr lang="en-US" sz="1400" dirty="0"/>
          </a:p>
        </p:txBody>
      </p:sp>
      <p:sp>
        <p:nvSpPr>
          <p:cNvPr id="7" name="Shape 5"/>
          <p:cNvSpPr/>
          <p:nvPr/>
        </p:nvSpPr>
        <p:spPr>
          <a:xfrm>
            <a:off x="4754880" y="2560320"/>
            <a:ext cx="3931920" cy="1920240"/>
          </a:xfrm>
          <a:prstGeom prst="rect">
            <a:avLst/>
          </a:prstGeom>
          <a:solidFill>
            <a:srgbClr val="141416"/>
          </a:solidFill>
          <a:ln w="19050">
            <a:solidFill>
              <a:srgbClr val="BAFC00"/>
            </a:solidFill>
            <a:prstDash val="solid"/>
          </a:ln>
        </p:spPr>
      </p:sp>
      <p:sp>
        <p:nvSpPr>
          <p:cNvPr id="8" name="Text 6"/>
          <p:cNvSpPr/>
          <p:nvPr/>
        </p:nvSpPr>
        <p:spPr>
          <a:xfrm>
            <a:off x="4937760" y="2743200"/>
            <a:ext cx="356616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WHAT SHE'LL EXPECT</a:t>
            </a:r>
            <a:endParaRPr lang="en-US" sz="1000" dirty="0"/>
          </a:p>
        </p:txBody>
      </p:sp>
      <p:sp>
        <p:nvSpPr>
          <p:cNvPr id="9" name="Text 7"/>
          <p:cNvSpPr/>
          <p:nvPr/>
        </p:nvSpPr>
        <p:spPr>
          <a:xfrm>
            <a:off x="4937760" y="3200400"/>
            <a:ext cx="3566160" cy="1097280"/>
          </a:xfrm>
          <a:prstGeom prst="rect">
            <a:avLst/>
          </a:prstGeom>
          <a:noFill/>
          <a:ln/>
        </p:spPr>
        <p:txBody>
          <a:bodyPr wrap="square" lIns="0" tIns="0" rIns="0" bIns="0" rtlCol="0" anchor="ctr"/>
          <a:lstStyle/>
          <a:p>
            <a:pPr indent="0" marL="0">
              <a:lnSpc>
                <a:spcPct val="140000"/>
              </a:lnSpc>
              <a:buNone/>
            </a:pPr>
            <a:r>
              <a:rPr lang="en-US" sz="1400" i="1" dirty="0">
                <a:solidFill>
                  <a:srgbClr val="FAFAFA"/>
                </a:solidFill>
                <a:latin typeface="Inter" pitchFamily="34" charset="0"/>
                <a:ea typeface="Inter" pitchFamily="34" charset="-122"/>
                <a:cs typeface="Inter" pitchFamily="34" charset="-120"/>
              </a:rPr>
              <a:t>"Cancel any subscription I haven't used in 30 days. Move that money to savings."</a:t>
            </a:r>
            <a:endParaRPr lang="en-US" sz="1400" dirty="0"/>
          </a:p>
        </p:txBody>
      </p:sp>
      <p:sp>
        <p:nvSpPr>
          <p:cNvPr id="10" name="Text 8"/>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04</a:t>
            </a:r>
            <a:endParaRPr lang="en-US" sz="900" dirty="0"/>
          </a:p>
        </p:txBody>
      </p:sp>
      <p:sp>
        <p:nvSpPr>
          <p:cNvPr id="11" name="Text 9"/>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THE SHIFT</a:t>
            </a:r>
            <a:endParaRPr lang="en-US" sz="900" dirty="0"/>
          </a:p>
        </p:txBody>
      </p:sp>
      <p:sp>
        <p:nvSpPr>
          <p:cNvPr id="12" name="Text 10"/>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04 · SOLUTION</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indent="0" marL="0">
              <a:lnSpc>
                <a:spcPct val="110000"/>
              </a:lnSpc>
              <a:buNone/>
            </a:pPr>
            <a:r>
              <a:rPr lang="en-US" sz="4000" b="1" dirty="0">
                <a:solidFill>
                  <a:srgbClr val="FAFAFA"/>
                </a:solidFill>
                <a:latin typeface="Inter" pitchFamily="34" charset="0"/>
                <a:ea typeface="Inter" pitchFamily="34" charset="-122"/>
                <a:cs typeface="Inter" pitchFamily="34" charset="-120"/>
              </a:rPr>
              <a:t>Inflection is the runtime.</a:t>
            </a:r>
            <a:endParaRPr lang="en-US" sz="4000" dirty="0"/>
          </a:p>
          <a:p>
            <a:pPr indent="0" marL="0">
              <a:lnSpc>
                <a:spcPct val="110000"/>
              </a:lnSpc>
              <a:buNone/>
            </a:pPr>
            <a:r>
              <a:rPr lang="en-US" sz="4000" b="1" dirty="0">
                <a:solidFill>
                  <a:srgbClr val="FAFAFA"/>
                </a:solidFill>
                <a:latin typeface="Inter" pitchFamily="34" charset="0"/>
                <a:ea typeface="Inter" pitchFamily="34" charset="-122"/>
                <a:cs typeface="Inter" pitchFamily="34" charset="-120"/>
              </a:rPr>
              <a:t>You bring the APIs.</a:t>
            </a:r>
            <a:endParaRPr lang="en-US" sz="4000" dirty="0"/>
          </a:p>
        </p:txBody>
      </p:sp>
      <p:sp>
        <p:nvSpPr>
          <p:cNvPr id="4" name="Text 2"/>
          <p:cNvSpPr/>
          <p:nvPr/>
        </p:nvSpPr>
        <p:spPr>
          <a:xfrm>
            <a:off x="457200" y="2468880"/>
            <a:ext cx="3931920" cy="274320"/>
          </a:xfrm>
          <a:prstGeom prst="rect">
            <a:avLst/>
          </a:prstGeom>
          <a:noFill/>
          <a:ln/>
        </p:spPr>
        <p:txBody>
          <a:bodyPr wrap="square" lIns="0" tIns="0" rIns="0" bIns="0" rtlCol="0" anchor="ctr"/>
          <a:lstStyle/>
          <a:p>
            <a:pPr indent="0" marL="0">
              <a:buNone/>
            </a:pPr>
            <a:r>
              <a:rPr lang="en-US" sz="1000" b="1" spc="300" kern="0" dirty="0">
                <a:solidFill>
                  <a:srgbClr val="5A5A60"/>
                </a:solidFill>
                <a:latin typeface="Inter" pitchFamily="34" charset="0"/>
                <a:ea typeface="Inter" pitchFamily="34" charset="-122"/>
                <a:cs typeface="Inter" pitchFamily="34" charset="-120"/>
              </a:rPr>
              <a:t>YOU BRING</a:t>
            </a:r>
            <a:endParaRPr lang="en-US" sz="1000" dirty="0"/>
          </a:p>
        </p:txBody>
      </p:sp>
      <p:sp>
        <p:nvSpPr>
          <p:cNvPr id="5" name="Text 3"/>
          <p:cNvSpPr/>
          <p:nvPr/>
        </p:nvSpPr>
        <p:spPr>
          <a:xfrm>
            <a:off x="457200" y="2834640"/>
            <a:ext cx="3931920" cy="1645920"/>
          </a:xfrm>
          <a:prstGeom prst="rect">
            <a:avLst/>
          </a:prstGeom>
          <a:noFill/>
          <a:ln/>
        </p:spPr>
        <p:txBody>
          <a:bodyPr wrap="square" lIns="0" tIns="0" rIns="0" bIns="0" rtlCol="0" anchor="ctr"/>
          <a:lstStyle/>
          <a:p>
            <a:pPr indent="0" marL="0">
              <a:lnSpc>
                <a:spcPct val="160000"/>
              </a:lnSpc>
              <a:buNone/>
            </a:pPr>
            <a:r>
              <a:rPr lang="en-US" sz="1600" dirty="0">
                <a:solidFill>
                  <a:srgbClr val="FAFAFA"/>
                </a:solidFill>
                <a:latin typeface="Inter" pitchFamily="34" charset="0"/>
                <a:ea typeface="Inter" pitchFamily="34" charset="-122"/>
                <a:cs typeface="Inter" pitchFamily="34" charset="-120"/>
              </a:rPr>
              <a:t>Core banking API</a:t>
            </a:r>
            <a:endParaRPr lang="en-US" sz="1600" dirty="0"/>
          </a:p>
          <a:p>
            <a:pPr indent="0" marL="0">
              <a:lnSpc>
                <a:spcPct val="160000"/>
              </a:lnSpc>
              <a:buNone/>
            </a:pPr>
            <a:r>
              <a:rPr lang="en-US" sz="1600" dirty="0">
                <a:solidFill>
                  <a:srgbClr val="FAFAFA"/>
                </a:solidFill>
                <a:latin typeface="Inter" pitchFamily="34" charset="0"/>
                <a:ea typeface="Inter" pitchFamily="34" charset="-122"/>
                <a:cs typeface="Inter" pitchFamily="34" charset="-120"/>
              </a:rPr>
              <a:t>Payment rails</a:t>
            </a:r>
            <a:endParaRPr lang="en-US" sz="1600" dirty="0"/>
          </a:p>
          <a:p>
            <a:pPr indent="0" marL="0">
              <a:lnSpc>
                <a:spcPct val="160000"/>
              </a:lnSpc>
              <a:buNone/>
            </a:pPr>
            <a:r>
              <a:rPr lang="en-US" sz="1600" dirty="0">
                <a:solidFill>
                  <a:srgbClr val="FAFAFA"/>
                </a:solidFill>
                <a:latin typeface="Inter" pitchFamily="34" charset="0"/>
                <a:ea typeface="Inter" pitchFamily="34" charset="-122"/>
                <a:cs typeface="Inter" pitchFamily="34" charset="-120"/>
              </a:rPr>
              <a:t>KYC / KYB provider</a:t>
            </a:r>
            <a:endParaRPr lang="en-US" sz="1600" dirty="0"/>
          </a:p>
          <a:p>
            <a:pPr indent="0" marL="0">
              <a:lnSpc>
                <a:spcPct val="160000"/>
              </a:lnSpc>
              <a:buNone/>
            </a:pPr>
            <a:r>
              <a:rPr lang="en-US" sz="1600" dirty="0">
                <a:solidFill>
                  <a:srgbClr val="FAFAFA"/>
                </a:solidFill>
                <a:latin typeface="Inter" pitchFamily="34" charset="0"/>
                <a:ea typeface="Inter" pitchFamily="34" charset="-122"/>
                <a:cs typeface="Inter" pitchFamily="34" charset="-120"/>
              </a:rPr>
              <a:t>Comms layer</a:t>
            </a:r>
            <a:endParaRPr lang="en-US" sz="1600" dirty="0"/>
          </a:p>
        </p:txBody>
      </p:sp>
      <p:sp>
        <p:nvSpPr>
          <p:cNvPr id="6" name="Text 4"/>
          <p:cNvSpPr/>
          <p:nvPr/>
        </p:nvSpPr>
        <p:spPr>
          <a:xfrm>
            <a:off x="4754880" y="2468880"/>
            <a:ext cx="393192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WE BRING</a:t>
            </a:r>
            <a:endParaRPr lang="en-US" sz="1000" dirty="0"/>
          </a:p>
        </p:txBody>
      </p:sp>
      <p:sp>
        <p:nvSpPr>
          <p:cNvPr id="7" name="Text 5"/>
          <p:cNvSpPr/>
          <p:nvPr/>
        </p:nvSpPr>
        <p:spPr>
          <a:xfrm>
            <a:off x="4754880" y="2834640"/>
            <a:ext cx="3931920" cy="1645920"/>
          </a:xfrm>
          <a:prstGeom prst="rect">
            <a:avLst/>
          </a:prstGeom>
          <a:noFill/>
          <a:ln/>
        </p:spPr>
        <p:txBody>
          <a:bodyPr wrap="square" lIns="0" tIns="0" rIns="0" bIns="0" rtlCol="0" anchor="ctr"/>
          <a:lstStyle/>
          <a:p>
            <a:pPr indent="0" marL="0">
              <a:lnSpc>
                <a:spcPct val="150000"/>
              </a:lnSpc>
              <a:buNone/>
            </a:pPr>
            <a:r>
              <a:rPr lang="en-US" sz="1600" dirty="0">
                <a:solidFill>
                  <a:srgbClr val="FAFAFA"/>
                </a:solidFill>
                <a:latin typeface="Inter" pitchFamily="34" charset="0"/>
                <a:ea typeface="Inter" pitchFamily="34" charset="-122"/>
                <a:cs typeface="Inter" pitchFamily="34" charset="-120"/>
              </a:rPr>
              <a:t>Agent execution runtime</a:t>
            </a:r>
            <a:endParaRPr lang="en-US" sz="1600" dirty="0"/>
          </a:p>
          <a:p>
            <a:pPr indent="0" marL="0">
              <a:lnSpc>
                <a:spcPct val="150000"/>
              </a:lnSpc>
              <a:buNone/>
            </a:pPr>
            <a:r>
              <a:rPr lang="en-US" sz="1600" dirty="0">
                <a:solidFill>
                  <a:srgbClr val="FAFAFA"/>
                </a:solidFill>
                <a:latin typeface="Inter" pitchFamily="34" charset="0"/>
                <a:ea typeface="Inter" pitchFamily="34" charset="-122"/>
                <a:cs typeface="Inter" pitchFamily="34" charset="-120"/>
              </a:rPr>
              <a:t>Credential vault + audit log</a:t>
            </a:r>
            <a:endParaRPr lang="en-US" sz="1600" dirty="0"/>
          </a:p>
          <a:p>
            <a:pPr indent="0" marL="0">
              <a:lnSpc>
                <a:spcPct val="150000"/>
              </a:lnSpc>
              <a:buNone/>
            </a:pPr>
            <a:r>
              <a:rPr lang="en-US" sz="1600" dirty="0">
                <a:solidFill>
                  <a:srgbClr val="FAFAFA"/>
                </a:solidFill>
                <a:latin typeface="Inter" pitchFamily="34" charset="0"/>
                <a:ea typeface="Inter" pitchFamily="34" charset="-122"/>
                <a:cs typeface="Inter" pitchFamily="34" charset="-120"/>
              </a:rPr>
              <a:t>Policy + guardrail engine</a:t>
            </a:r>
            <a:endParaRPr lang="en-US" sz="1600" dirty="0"/>
          </a:p>
          <a:p>
            <a:pPr indent="0" marL="0">
              <a:lnSpc>
                <a:spcPct val="150000"/>
              </a:lnSpc>
              <a:buNone/>
            </a:pPr>
            <a:r>
              <a:rPr lang="en-US" sz="1600" dirty="0">
                <a:solidFill>
                  <a:srgbClr val="FAFAFA"/>
                </a:solidFill>
                <a:latin typeface="Inter" pitchFamily="34" charset="0"/>
                <a:ea typeface="Inter" pitchFamily="34" charset="-122"/>
                <a:cs typeface="Inter" pitchFamily="34" charset="-120"/>
              </a:rPr>
              <a:t>Human-in-the-loop approvals</a:t>
            </a:r>
            <a:endParaRPr lang="en-US" sz="1600" dirty="0"/>
          </a:p>
          <a:p>
            <a:pPr indent="0" marL="0">
              <a:lnSpc>
                <a:spcPct val="150000"/>
              </a:lnSpc>
              <a:buNone/>
            </a:pPr>
            <a:r>
              <a:rPr lang="en-US" sz="1600" dirty="0">
                <a:solidFill>
                  <a:srgbClr val="FAFAFA"/>
                </a:solidFill>
                <a:latin typeface="Inter" pitchFamily="34" charset="0"/>
                <a:ea typeface="Inter" pitchFamily="34" charset="-122"/>
                <a:cs typeface="Inter" pitchFamily="34" charset="-120"/>
              </a:rPr>
              <a:t>White-labeled chat UI</a:t>
            </a:r>
            <a:endParaRPr lang="en-US" sz="1600" dirty="0"/>
          </a:p>
        </p:txBody>
      </p:sp>
      <p:sp>
        <p:nvSpPr>
          <p:cNvPr id="8" name="Text 6"/>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05</a:t>
            </a:r>
            <a:endParaRPr lang="en-US" sz="900" dirty="0"/>
          </a:p>
        </p:txBody>
      </p:sp>
      <p:sp>
        <p:nvSpPr>
          <p:cNvPr id="9" name="Text 7"/>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SOLUTION</a:t>
            </a:r>
            <a:endParaRPr lang="en-US" sz="900" dirty="0"/>
          </a:p>
        </p:txBody>
      </p:sp>
      <p:sp>
        <p:nvSpPr>
          <p:cNvPr id="10" name="Text 8"/>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06 · PRODUCT</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indent="0" marL="0">
              <a:lnSpc>
                <a:spcPct val="110000"/>
              </a:lnSpc>
              <a:buNone/>
            </a:pPr>
            <a:r>
              <a:rPr lang="en-US" sz="3600" b="1" dirty="0">
                <a:solidFill>
                  <a:srgbClr val="FAFAFA"/>
                </a:solidFill>
                <a:latin typeface="Inter" pitchFamily="34" charset="0"/>
                <a:ea typeface="Inter" pitchFamily="34" charset="-122"/>
                <a:cs typeface="Inter" pitchFamily="34" charset="-120"/>
              </a:rPr>
              <a:t>From zero to a live agent</a:t>
            </a:r>
            <a:endParaRPr lang="en-US" sz="3600" dirty="0"/>
          </a:p>
          <a:p>
            <a:pPr indent="0" marL="0">
              <a:lnSpc>
                <a:spcPct val="110000"/>
              </a:lnSpc>
              <a:buNone/>
            </a:pPr>
            <a:r>
              <a:rPr lang="en-US" sz="3600" b="1" dirty="0">
                <a:solidFill>
                  <a:srgbClr val="FAFAFA"/>
                </a:solidFill>
                <a:latin typeface="Inter" pitchFamily="34" charset="0"/>
                <a:ea typeface="Inter" pitchFamily="34" charset="-122"/>
                <a:cs typeface="Inter" pitchFamily="34" charset="-120"/>
              </a:rPr>
              <a:t>in under a week.</a:t>
            </a:r>
            <a:endParaRPr lang="en-US" sz="3600" dirty="0"/>
          </a:p>
        </p:txBody>
      </p:sp>
      <p:sp>
        <p:nvSpPr>
          <p:cNvPr id="4" name="Shape 2"/>
          <p:cNvSpPr/>
          <p:nvPr/>
        </p:nvSpPr>
        <p:spPr>
          <a:xfrm>
            <a:off x="457200" y="2560320"/>
            <a:ext cx="2743200" cy="1920240"/>
          </a:xfrm>
          <a:prstGeom prst="rect">
            <a:avLst/>
          </a:prstGeom>
          <a:solidFill>
            <a:srgbClr val="141416"/>
          </a:solidFill>
          <a:ln w="9525">
            <a:solidFill>
              <a:srgbClr val="26262A"/>
            </a:solidFill>
            <a:prstDash val="solid"/>
          </a:ln>
        </p:spPr>
        <p:txBody>
          <a:bodyPr/>
          <a:p/>
        </p:txBody>
      </p:sp>
      <p:sp>
        <p:nvSpPr>
          <p:cNvPr id="5" name="Text 3"/>
          <p:cNvSpPr/>
          <p:nvPr/>
        </p:nvSpPr>
        <p:spPr>
          <a:xfrm>
            <a:off x="640080" y="2697480"/>
            <a:ext cx="914400" cy="320040"/>
          </a:xfrm>
          <a:prstGeom prst="rect">
            <a:avLst/>
          </a:prstGeom>
          <a:noFill/>
          <a:ln/>
        </p:spPr>
        <p:txBody>
          <a:bodyPr wrap="square" lIns="0" tIns="0" rIns="0" bIns="0" rtlCol="0" anchor="ctr"/>
          <a:lstStyle/>
          <a:p>
            <a:pPr indent="0" marL="0">
              <a:buNone/>
            </a:pPr>
            <a:r>
              <a:rPr lang="en-US" sz="1100" b="1" spc="300" kern="0" dirty="0">
                <a:solidFill>
                  <a:srgbClr val="BAFC00"/>
                </a:solidFill>
                <a:latin typeface="Inter" pitchFamily="34" charset="0"/>
                <a:ea typeface="Inter" pitchFamily="34" charset="-122"/>
                <a:cs typeface="Inter" pitchFamily="34" charset="-120"/>
              </a:rPr>
              <a:t>01</a:t>
            </a:r>
            <a:endParaRPr lang="en-US" sz="1100" dirty="0"/>
          </a:p>
        </p:txBody>
      </p:sp>
      <p:sp>
        <p:nvSpPr>
          <p:cNvPr id="6" name="Text 4"/>
          <p:cNvSpPr/>
          <p:nvPr/>
        </p:nvSpPr>
        <p:spPr>
          <a:xfrm>
            <a:off x="640080" y="3063240"/>
            <a:ext cx="2377440" cy="320040"/>
          </a:xfrm>
          <a:prstGeom prst="rect">
            <a:avLst/>
          </a:prstGeom>
          <a:noFill/>
          <a:ln/>
        </p:spPr>
        <p:txBody>
          <a:bodyPr wrap="square" lIns="0" tIns="0" rIns="0" bIns="0" rtlCol="0" anchor="ctr"/>
          <a:lstStyle/>
          <a:p>
            <a:pPr indent="0" marL="0">
              <a:buNone/>
            </a:pPr>
            <a:r>
              <a:rPr lang="en-US" sz="1700" b="1" dirty="0">
                <a:solidFill>
                  <a:srgbClr val="FAFAFA"/>
                </a:solidFill>
                <a:latin typeface="Inter" pitchFamily="34" charset="0"/>
                <a:ea typeface="Inter" pitchFamily="34" charset="-122"/>
                <a:cs typeface="Inter" pitchFamily="34" charset="-120"/>
              </a:rPr>
              <a:t>Connect APIs</a:t>
            </a:r>
            <a:endParaRPr lang="en-US" sz="1700" dirty="0"/>
          </a:p>
        </p:txBody>
      </p:sp>
      <p:sp>
        <p:nvSpPr>
          <p:cNvPr id="7" name="Text 5"/>
          <p:cNvSpPr/>
          <p:nvPr/>
        </p:nvSpPr>
        <p:spPr>
          <a:xfrm>
            <a:off x="640080" y="3474720"/>
            <a:ext cx="2377440" cy="91440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OAuth, API key, or mTLS. Credentials go to a managed HashiCorp Vault. Shadow tests verify they work.</a:t>
            </a:r>
            <a:endParaRPr lang="en-US" sz="1100" dirty="0"/>
          </a:p>
        </p:txBody>
      </p:sp>
      <p:sp>
        <p:nvSpPr>
          <p:cNvPr id="8" name="Shape 6"/>
          <p:cNvSpPr/>
          <p:nvPr/>
        </p:nvSpPr>
        <p:spPr>
          <a:xfrm>
            <a:off x="3246120" y="2560320"/>
            <a:ext cx="2743200" cy="1920240"/>
          </a:xfrm>
          <a:prstGeom prst="rect">
            <a:avLst/>
          </a:prstGeom>
          <a:solidFill>
            <a:srgbClr val="141416"/>
          </a:solidFill>
          <a:ln w="9525">
            <a:solidFill>
              <a:srgbClr val="26262A"/>
            </a:solidFill>
            <a:prstDash val="solid"/>
          </a:ln>
        </p:spPr>
        <p:txBody>
          <a:bodyPr/>
          <a:p/>
        </p:txBody>
      </p:sp>
      <p:sp>
        <p:nvSpPr>
          <p:cNvPr id="9" name="Text 7"/>
          <p:cNvSpPr/>
          <p:nvPr/>
        </p:nvSpPr>
        <p:spPr>
          <a:xfrm>
            <a:off x="3429000" y="2697480"/>
            <a:ext cx="914400" cy="320040"/>
          </a:xfrm>
          <a:prstGeom prst="rect">
            <a:avLst/>
          </a:prstGeom>
          <a:noFill/>
          <a:ln/>
        </p:spPr>
        <p:txBody>
          <a:bodyPr wrap="square" lIns="0" tIns="0" rIns="0" bIns="0" rtlCol="0" anchor="ctr"/>
          <a:lstStyle/>
          <a:p>
            <a:pPr indent="0" marL="0">
              <a:buNone/>
            </a:pPr>
            <a:r>
              <a:rPr lang="en-US" sz="1100" b="1" spc="300" kern="0" dirty="0">
                <a:solidFill>
                  <a:srgbClr val="BAFC00"/>
                </a:solidFill>
                <a:latin typeface="Inter" pitchFamily="34" charset="0"/>
                <a:ea typeface="Inter" pitchFamily="34" charset="-122"/>
                <a:cs typeface="Inter" pitchFamily="34" charset="-120"/>
              </a:rPr>
              <a:t>02</a:t>
            </a:r>
            <a:endParaRPr lang="en-US" sz="1100" dirty="0"/>
          </a:p>
        </p:txBody>
      </p:sp>
      <p:sp>
        <p:nvSpPr>
          <p:cNvPr id="10" name="Text 8"/>
          <p:cNvSpPr/>
          <p:nvPr/>
        </p:nvSpPr>
        <p:spPr>
          <a:xfrm>
            <a:off x="3429000" y="3063240"/>
            <a:ext cx="2377440" cy="320040"/>
          </a:xfrm>
          <a:prstGeom prst="rect">
            <a:avLst/>
          </a:prstGeom>
          <a:noFill/>
          <a:ln/>
        </p:spPr>
        <p:txBody>
          <a:bodyPr wrap="square" lIns="0" tIns="0" rIns="0" bIns="0" rtlCol="0" anchor="ctr"/>
          <a:lstStyle/>
          <a:p>
            <a:pPr indent="0" marL="0">
              <a:buNone/>
            </a:pPr>
            <a:r>
              <a:rPr lang="en-US" sz="1700" b="1" dirty="0">
                <a:solidFill>
                  <a:srgbClr val="FAFAFA"/>
                </a:solidFill>
                <a:latin typeface="Inter" pitchFamily="34" charset="0"/>
                <a:ea typeface="Inter" pitchFamily="34" charset="-122"/>
                <a:cs typeface="Inter" pitchFamily="34" charset="-120"/>
              </a:rPr>
              <a:t>Define skills</a:t>
            </a:r>
            <a:endParaRPr lang="en-US" sz="1700" dirty="0"/>
          </a:p>
        </p:txBody>
      </p:sp>
      <p:sp>
        <p:nvSpPr>
          <p:cNvPr id="11" name="Text 9"/>
          <p:cNvSpPr/>
          <p:nvPr/>
        </p:nvSpPr>
        <p:spPr>
          <a:xfrm>
            <a:off x="3429000" y="3474720"/>
            <a:ext cx="2377440" cy="91440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A short markdown file per connector. We parse it, validate it, generate the system prompt.</a:t>
            </a:r>
            <a:endParaRPr lang="en-US" sz="1100" dirty="0"/>
          </a:p>
        </p:txBody>
      </p:sp>
      <p:sp>
        <p:nvSpPr>
          <p:cNvPr id="12" name="Shape 10"/>
          <p:cNvSpPr/>
          <p:nvPr/>
        </p:nvSpPr>
        <p:spPr>
          <a:xfrm>
            <a:off x="6035040" y="2560320"/>
            <a:ext cx="2743200" cy="1920240"/>
          </a:xfrm>
          <a:prstGeom prst="rect">
            <a:avLst/>
          </a:prstGeom>
          <a:solidFill>
            <a:srgbClr val="141416"/>
          </a:solidFill>
          <a:ln w="9525">
            <a:solidFill>
              <a:srgbClr val="26262A"/>
            </a:solidFill>
            <a:prstDash val="solid"/>
          </a:ln>
        </p:spPr>
        <p:txBody>
          <a:bodyPr/>
          <a:p/>
        </p:txBody>
      </p:sp>
      <p:sp>
        <p:nvSpPr>
          <p:cNvPr id="13" name="Text 11"/>
          <p:cNvSpPr/>
          <p:nvPr/>
        </p:nvSpPr>
        <p:spPr>
          <a:xfrm>
            <a:off x="6217920" y="2697480"/>
            <a:ext cx="914400" cy="320040"/>
          </a:xfrm>
          <a:prstGeom prst="rect">
            <a:avLst/>
          </a:prstGeom>
          <a:noFill/>
          <a:ln/>
        </p:spPr>
        <p:txBody>
          <a:bodyPr wrap="square" lIns="0" tIns="0" rIns="0" bIns="0" rtlCol="0" anchor="ctr"/>
          <a:lstStyle/>
          <a:p>
            <a:pPr indent="0" marL="0">
              <a:buNone/>
            </a:pPr>
            <a:r>
              <a:rPr lang="en-US" sz="1100" b="1" spc="300" kern="0" dirty="0">
                <a:solidFill>
                  <a:srgbClr val="BAFC00"/>
                </a:solidFill>
                <a:latin typeface="Inter" pitchFamily="34" charset="0"/>
                <a:ea typeface="Inter" pitchFamily="34" charset="-122"/>
                <a:cs typeface="Inter" pitchFamily="34" charset="-120"/>
              </a:rPr>
              <a:t>03</a:t>
            </a:r>
            <a:endParaRPr lang="en-US" sz="1100" dirty="0"/>
          </a:p>
        </p:txBody>
      </p:sp>
      <p:sp>
        <p:nvSpPr>
          <p:cNvPr id="14" name="Text 12"/>
          <p:cNvSpPr/>
          <p:nvPr/>
        </p:nvSpPr>
        <p:spPr>
          <a:xfrm>
            <a:off x="6217920" y="3063240"/>
            <a:ext cx="2377440" cy="320040"/>
          </a:xfrm>
          <a:prstGeom prst="rect">
            <a:avLst/>
          </a:prstGeom>
          <a:noFill/>
          <a:ln/>
        </p:spPr>
        <p:txBody>
          <a:bodyPr wrap="square" lIns="0" tIns="0" rIns="0" bIns="0" rtlCol="0" anchor="ctr"/>
          <a:lstStyle/>
          <a:p>
            <a:pPr indent="0" marL="0">
              <a:buNone/>
            </a:pPr>
            <a:r>
              <a:rPr lang="en-US" sz="1700" b="1" dirty="0">
                <a:solidFill>
                  <a:srgbClr val="FAFAFA"/>
                </a:solidFill>
                <a:latin typeface="Inter" pitchFamily="34" charset="0"/>
                <a:ea typeface="Inter" pitchFamily="34" charset="-122"/>
                <a:cs typeface="Inter" pitchFamily="34" charset="-120"/>
              </a:rPr>
              <a:t>Set guardrails + ship</a:t>
            </a:r>
            <a:endParaRPr lang="en-US" sz="1700" dirty="0"/>
          </a:p>
        </p:txBody>
      </p:sp>
      <p:sp>
        <p:nvSpPr>
          <p:cNvPr id="15" name="Text 13"/>
          <p:cNvSpPr/>
          <p:nvPr/>
        </p:nvSpPr>
        <p:spPr>
          <a:xfrm>
            <a:off x="6217920" y="3474720"/>
            <a:ext cx="2377440" cy="91440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Allowlists, rate limits, budget caps, approval rules. Drop one script tag. Live.</a:t>
            </a:r>
            <a:endParaRPr lang="en-US" sz="1100" dirty="0"/>
          </a:p>
        </p:txBody>
      </p:sp>
      <p:sp>
        <p:nvSpPr>
          <p:cNvPr id="16" name="Text 14"/>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07</a:t>
            </a:r>
            <a:endParaRPr lang="en-US" sz="900" dirty="0"/>
          </a:p>
        </p:txBody>
      </p:sp>
      <p:sp>
        <p:nvSpPr>
          <p:cNvPr id="17" name="Text 15"/>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PRODUCT</a:t>
            </a:r>
            <a:endParaRPr lang="en-US" sz="900" dirty="0"/>
          </a:p>
        </p:txBody>
      </p:sp>
      <p:sp>
        <p:nvSpPr>
          <p:cNvPr id="18" name="Text 16"/>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08 · MARKET</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indent="0" marL="0">
              <a:lnSpc>
                <a:spcPct val="110000"/>
              </a:lnSpc>
              <a:buNone/>
            </a:pPr>
            <a:r>
              <a:rPr lang="en-US" sz="4000" b="1" dirty="0">
                <a:solidFill>
                  <a:srgbClr val="FAFAFA"/>
                </a:solidFill>
                <a:latin typeface="Inter" pitchFamily="34" charset="0"/>
                <a:ea typeface="Inter" pitchFamily="34" charset="-122"/>
                <a:cs typeface="Inter" pitchFamily="34" charset="-120"/>
              </a:rPr>
              <a:t>Every regulated fintech</a:t>
            </a:r>
            <a:endParaRPr lang="en-US" sz="4000" dirty="0"/>
          </a:p>
          <a:p>
            <a:pPr indent="0" marL="0">
              <a:lnSpc>
                <a:spcPct val="110000"/>
              </a:lnSpc>
              <a:buNone/>
            </a:pPr>
            <a:r>
              <a:rPr lang="en-US" sz="4000" b="1" dirty="0">
                <a:solidFill>
                  <a:srgbClr val="FAFAFA"/>
                </a:solidFill>
                <a:latin typeface="Inter" pitchFamily="34" charset="0"/>
                <a:ea typeface="Inter" pitchFamily="34" charset="-122"/>
                <a:cs typeface="Inter" pitchFamily="34" charset="-120"/>
              </a:rPr>
              <a:t>is a customer.</a:t>
            </a:r>
            <a:endParaRPr lang="en-US" sz="4000" dirty="0"/>
          </a:p>
        </p:txBody>
      </p:sp>
      <p:sp>
        <p:nvSpPr>
          <p:cNvPr id="4" name="Shape 2"/>
          <p:cNvSpPr/>
          <p:nvPr/>
        </p:nvSpPr>
        <p:spPr>
          <a:xfrm>
            <a:off x="457200" y="2560320"/>
            <a:ext cx="8229600" cy="457200"/>
          </a:xfrm>
          <a:prstGeom prst="rect">
            <a:avLst/>
          </a:prstGeom>
          <a:solidFill>
            <a:srgbClr val="141416"/>
          </a:solidFill>
          <a:ln w="6350">
            <a:solidFill>
              <a:srgbClr val="26262A"/>
            </a:solidFill>
            <a:prstDash val="solid"/>
          </a:ln>
        </p:spPr>
        <p:txBody>
          <a:bodyPr/>
          <a:p/>
        </p:txBody>
      </p:sp>
      <p:sp>
        <p:nvSpPr>
          <p:cNvPr id="5" name="Shape 3"/>
          <p:cNvSpPr/>
          <p:nvPr/>
        </p:nvSpPr>
        <p:spPr>
          <a:xfrm>
            <a:off x="457200" y="2560320"/>
            <a:ext cx="73152" cy="457200"/>
          </a:xfrm>
          <a:prstGeom prst="rect">
            <a:avLst/>
          </a:prstGeom>
          <a:solidFill>
            <a:srgbClr val="BAFC00"/>
          </a:solidFill>
          <a:ln w="12700">
            <a:solidFill>
              <a:srgbClr val="BAFC00"/>
            </a:solidFill>
            <a:prstDash val="solid"/>
          </a:ln>
        </p:spPr>
        <p:txBody>
          <a:bodyPr/>
          <a:p/>
        </p:txBody>
      </p:sp>
      <p:sp>
        <p:nvSpPr>
          <p:cNvPr id="6" name="Text 4"/>
          <p:cNvSpPr/>
          <p:nvPr/>
        </p:nvSpPr>
        <p:spPr>
          <a:xfrm>
            <a:off x="685800" y="2670048"/>
            <a:ext cx="640080" cy="274320"/>
          </a:xfrm>
          <a:prstGeom prst="rect">
            <a:avLst/>
          </a:prstGeom>
          <a:noFill/>
          <a:ln/>
        </p:spPr>
        <p:txBody>
          <a:bodyPr wrap="square" lIns="0" tIns="0" rIns="0" bIns="0" rtlCol="0" anchor="ctr"/>
          <a:lstStyle/>
          <a:p>
            <a:pPr indent="0" marL="0">
              <a:buNone/>
            </a:pPr>
            <a:r>
              <a:rPr lang="en-US" sz="1100" b="1" spc="200" kern="0" dirty="0">
                <a:solidFill>
                  <a:srgbClr val="5A5A60"/>
                </a:solidFill>
                <a:latin typeface="Inter" pitchFamily="34" charset="0"/>
                <a:ea typeface="Inter" pitchFamily="34" charset="-122"/>
                <a:cs typeface="Inter" pitchFamily="34" charset="-120"/>
              </a:rPr>
              <a:t>TAM</a:t>
            </a:r>
            <a:endParaRPr lang="en-US" sz="1100" dirty="0"/>
          </a:p>
        </p:txBody>
      </p:sp>
      <p:sp>
        <p:nvSpPr>
          <p:cNvPr id="7" name="Text 5"/>
          <p:cNvSpPr/>
          <p:nvPr/>
        </p:nvSpPr>
        <p:spPr>
          <a:xfrm>
            <a:off x="1371600" y="2642616"/>
            <a:ext cx="1371600" cy="320040"/>
          </a:xfrm>
          <a:prstGeom prst="rect">
            <a:avLst/>
          </a:prstGeom>
          <a:noFill/>
          <a:ln/>
        </p:spPr>
        <p:txBody>
          <a:bodyPr wrap="square" lIns="0" tIns="0" rIns="0" bIns="0" rtlCol="0" anchor="ctr"/>
          <a:lstStyle/>
          <a:p>
            <a:pPr indent="0" marL="0">
              <a:buNone/>
            </a:pPr>
            <a:r>
              <a:rPr lang="en-US" sz="1800" b="1" dirty="0">
                <a:solidFill>
                  <a:srgbClr val="FAFAFA"/>
                </a:solidFill>
                <a:latin typeface="Inter" pitchFamily="34" charset="0"/>
                <a:ea typeface="Inter" pitchFamily="34" charset="-122"/>
                <a:cs typeface="Inter" pitchFamily="34" charset="-120"/>
              </a:rPr>
              <a:t>$24B</a:t>
            </a:r>
            <a:endParaRPr lang="en-US" sz="1800" dirty="0"/>
          </a:p>
        </p:txBody>
      </p:sp>
      <p:sp>
        <p:nvSpPr>
          <p:cNvPr id="8" name="Text 6"/>
          <p:cNvSpPr/>
          <p:nvPr/>
        </p:nvSpPr>
        <p:spPr>
          <a:xfrm>
            <a:off x="2834640" y="2679192"/>
            <a:ext cx="5852160" cy="274320"/>
          </a:xfrm>
          <a:prstGeom prst="rect">
            <a:avLst/>
          </a:prstGeom>
          <a:noFill/>
          <a:ln/>
        </p:spPr>
        <p:txBody>
          <a:bodyPr wrap="square" lIns="0" tIns="0" rIns="0" bIns="0" rtlCol="0" anchor="ctr"/>
          <a:lstStyle/>
          <a:p>
            <a:pPr indent="0" marL="0">
              <a:buNone/>
            </a:pPr>
            <a:r>
              <a:rPr lang="en-US" sz="1100" dirty="0">
                <a:solidFill>
                  <a:srgbClr val="8B8B92"/>
                </a:solidFill>
                <a:latin typeface="Inter" pitchFamily="34" charset="0"/>
                <a:ea typeface="Inter" pitchFamily="34" charset="-122"/>
                <a:cs typeface="Inter" pitchFamily="34" charset="-120"/>
              </a:rPr>
              <a:t>Global fintech infrastructure spend by 2030</a:t>
            </a:r>
            <a:endParaRPr lang="en-US" sz="1100" dirty="0"/>
          </a:p>
        </p:txBody>
      </p:sp>
      <p:sp>
        <p:nvSpPr>
          <p:cNvPr id="9" name="Shape 7"/>
          <p:cNvSpPr/>
          <p:nvPr/>
        </p:nvSpPr>
        <p:spPr>
          <a:xfrm>
            <a:off x="457200" y="3108960"/>
            <a:ext cx="5486400" cy="457200"/>
          </a:xfrm>
          <a:prstGeom prst="rect">
            <a:avLst/>
          </a:prstGeom>
          <a:solidFill>
            <a:srgbClr val="141416"/>
          </a:solidFill>
          <a:ln w="6350">
            <a:solidFill>
              <a:srgbClr val="26262A"/>
            </a:solidFill>
            <a:prstDash val="solid"/>
          </a:ln>
        </p:spPr>
        <p:txBody>
          <a:bodyPr/>
          <a:p/>
        </p:txBody>
      </p:sp>
      <p:sp>
        <p:nvSpPr>
          <p:cNvPr id="10" name="Shape 8"/>
          <p:cNvSpPr/>
          <p:nvPr/>
        </p:nvSpPr>
        <p:spPr>
          <a:xfrm>
            <a:off x="457200" y="3108960"/>
            <a:ext cx="73152" cy="457200"/>
          </a:xfrm>
          <a:prstGeom prst="rect">
            <a:avLst/>
          </a:prstGeom>
          <a:solidFill>
            <a:srgbClr val="BAFC00"/>
          </a:solidFill>
          <a:ln w="12700">
            <a:solidFill>
              <a:srgbClr val="BAFC00"/>
            </a:solidFill>
            <a:prstDash val="solid"/>
          </a:ln>
        </p:spPr>
        <p:txBody>
          <a:bodyPr/>
          <a:p/>
        </p:txBody>
      </p:sp>
      <p:sp>
        <p:nvSpPr>
          <p:cNvPr id="11" name="Text 9"/>
          <p:cNvSpPr/>
          <p:nvPr/>
        </p:nvSpPr>
        <p:spPr>
          <a:xfrm>
            <a:off x="685800" y="3218688"/>
            <a:ext cx="640080" cy="274320"/>
          </a:xfrm>
          <a:prstGeom prst="rect">
            <a:avLst/>
          </a:prstGeom>
          <a:noFill/>
          <a:ln/>
        </p:spPr>
        <p:txBody>
          <a:bodyPr wrap="square" lIns="0" tIns="0" rIns="0" bIns="0" rtlCol="0" anchor="ctr"/>
          <a:lstStyle/>
          <a:p>
            <a:pPr indent="0" marL="0">
              <a:buNone/>
            </a:pPr>
            <a:r>
              <a:rPr lang="en-US" sz="1100" b="1" spc="200" kern="0" dirty="0">
                <a:solidFill>
                  <a:srgbClr val="5A5A60"/>
                </a:solidFill>
                <a:latin typeface="Inter" pitchFamily="34" charset="0"/>
                <a:ea typeface="Inter" pitchFamily="34" charset="-122"/>
                <a:cs typeface="Inter" pitchFamily="34" charset="-120"/>
              </a:rPr>
              <a:t>SAM</a:t>
            </a:r>
            <a:endParaRPr lang="en-US" sz="1100" dirty="0"/>
          </a:p>
        </p:txBody>
      </p:sp>
      <p:sp>
        <p:nvSpPr>
          <p:cNvPr id="12" name="Text 10"/>
          <p:cNvSpPr/>
          <p:nvPr/>
        </p:nvSpPr>
        <p:spPr>
          <a:xfrm>
            <a:off x="1371600" y="3191256"/>
            <a:ext cx="1371600" cy="320040"/>
          </a:xfrm>
          <a:prstGeom prst="rect">
            <a:avLst/>
          </a:prstGeom>
          <a:noFill/>
          <a:ln/>
        </p:spPr>
        <p:txBody>
          <a:bodyPr wrap="square" lIns="0" tIns="0" rIns="0" bIns="0" rtlCol="0" anchor="ctr"/>
          <a:lstStyle/>
          <a:p>
            <a:pPr indent="0" marL="0">
              <a:buNone/>
            </a:pPr>
            <a:r>
              <a:rPr lang="en-US" sz="1800" b="1" dirty="0">
                <a:solidFill>
                  <a:srgbClr val="FAFAFA"/>
                </a:solidFill>
                <a:latin typeface="Inter" pitchFamily="34" charset="0"/>
                <a:ea typeface="Inter" pitchFamily="34" charset="-122"/>
                <a:cs typeface="Inter" pitchFamily="34" charset="-120"/>
              </a:rPr>
              <a:t>$4.8B</a:t>
            </a:r>
            <a:endParaRPr lang="en-US" sz="1800" dirty="0"/>
          </a:p>
        </p:txBody>
      </p:sp>
      <p:sp>
        <p:nvSpPr>
          <p:cNvPr id="13" name="Text 11"/>
          <p:cNvSpPr/>
          <p:nvPr/>
        </p:nvSpPr>
        <p:spPr>
          <a:xfrm>
            <a:off x="2834640" y="3227832"/>
            <a:ext cx="5852160" cy="274320"/>
          </a:xfrm>
          <a:prstGeom prst="rect">
            <a:avLst/>
          </a:prstGeom>
          <a:noFill/>
          <a:ln/>
        </p:spPr>
        <p:txBody>
          <a:bodyPr wrap="square" lIns="0" tIns="0" rIns="0" bIns="0" rtlCol="0" anchor="ctr"/>
          <a:lstStyle/>
          <a:p>
            <a:pPr indent="0" marL="0">
              <a:buNone/>
            </a:pPr>
            <a:r>
              <a:rPr lang="en-US" sz="1100" dirty="0">
                <a:solidFill>
                  <a:srgbClr val="8B8B92"/>
                </a:solidFill>
                <a:latin typeface="Inter" pitchFamily="34" charset="0"/>
                <a:ea typeface="Inter" pitchFamily="34" charset="-122"/>
                <a:cs typeface="Inter" pitchFamily="34" charset="-120"/>
              </a:rPr>
              <a:t>Neobanks + digital banks ready to embed agents</a:t>
            </a:r>
            <a:endParaRPr lang="en-US" sz="1100" dirty="0"/>
          </a:p>
        </p:txBody>
      </p:sp>
      <p:sp>
        <p:nvSpPr>
          <p:cNvPr id="14" name="Shape 12"/>
          <p:cNvSpPr/>
          <p:nvPr/>
        </p:nvSpPr>
        <p:spPr>
          <a:xfrm>
            <a:off x="457200" y="3657600"/>
            <a:ext cx="2286000" cy="457200"/>
          </a:xfrm>
          <a:prstGeom prst="rect">
            <a:avLst/>
          </a:prstGeom>
          <a:solidFill>
            <a:srgbClr val="141416"/>
          </a:solidFill>
          <a:ln w="6350">
            <a:solidFill>
              <a:srgbClr val="26262A"/>
            </a:solidFill>
            <a:prstDash val="solid"/>
          </a:ln>
        </p:spPr>
        <p:txBody>
          <a:bodyPr/>
          <a:p/>
        </p:txBody>
      </p:sp>
      <p:sp>
        <p:nvSpPr>
          <p:cNvPr id="15" name="Shape 13"/>
          <p:cNvSpPr/>
          <p:nvPr/>
        </p:nvSpPr>
        <p:spPr>
          <a:xfrm>
            <a:off x="457200" y="3657600"/>
            <a:ext cx="73152" cy="457200"/>
          </a:xfrm>
          <a:prstGeom prst="rect">
            <a:avLst/>
          </a:prstGeom>
          <a:solidFill>
            <a:srgbClr val="BAFC00"/>
          </a:solidFill>
          <a:ln w="12700">
            <a:solidFill>
              <a:srgbClr val="BAFC00"/>
            </a:solidFill>
            <a:prstDash val="solid"/>
          </a:ln>
        </p:spPr>
        <p:txBody>
          <a:bodyPr/>
          <a:p/>
        </p:txBody>
      </p:sp>
      <p:sp>
        <p:nvSpPr>
          <p:cNvPr id="16" name="Text 14"/>
          <p:cNvSpPr/>
          <p:nvPr/>
        </p:nvSpPr>
        <p:spPr>
          <a:xfrm>
            <a:off x="685800" y="3767328"/>
            <a:ext cx="640080" cy="274320"/>
          </a:xfrm>
          <a:prstGeom prst="rect">
            <a:avLst/>
          </a:prstGeom>
          <a:noFill/>
          <a:ln/>
        </p:spPr>
        <p:txBody>
          <a:bodyPr wrap="square" lIns="0" tIns="0" rIns="0" bIns="0" rtlCol="0" anchor="ctr"/>
          <a:lstStyle/>
          <a:p>
            <a:pPr indent="0" marL="0">
              <a:buNone/>
            </a:pPr>
            <a:r>
              <a:rPr lang="en-US" sz="1100" b="1" spc="200" kern="0" dirty="0">
                <a:solidFill>
                  <a:srgbClr val="5A5A60"/>
                </a:solidFill>
                <a:latin typeface="Inter" pitchFamily="34" charset="0"/>
                <a:ea typeface="Inter" pitchFamily="34" charset="-122"/>
                <a:cs typeface="Inter" pitchFamily="34" charset="-120"/>
              </a:rPr>
              <a:t>SOM</a:t>
            </a:r>
            <a:endParaRPr lang="en-US" sz="1100" dirty="0"/>
          </a:p>
        </p:txBody>
      </p:sp>
      <p:sp>
        <p:nvSpPr>
          <p:cNvPr id="17" name="Text 15"/>
          <p:cNvSpPr/>
          <p:nvPr/>
        </p:nvSpPr>
        <p:spPr>
          <a:xfrm>
            <a:off x="1371600" y="3739896"/>
            <a:ext cx="1371600" cy="320040"/>
          </a:xfrm>
          <a:prstGeom prst="rect">
            <a:avLst/>
          </a:prstGeom>
          <a:noFill/>
          <a:ln/>
        </p:spPr>
        <p:txBody>
          <a:bodyPr wrap="square" lIns="0" tIns="0" rIns="0" bIns="0" rtlCol="0" anchor="ctr"/>
          <a:lstStyle/>
          <a:p>
            <a:pPr indent="0" marL="0">
              <a:buNone/>
            </a:pPr>
            <a:r>
              <a:rPr lang="en-US" sz="1800" b="1" dirty="0">
                <a:solidFill>
                  <a:srgbClr val="FAFAFA"/>
                </a:solidFill>
                <a:latin typeface="Inter" pitchFamily="34" charset="0"/>
                <a:ea typeface="Inter" pitchFamily="34" charset="-122"/>
                <a:cs typeface="Inter" pitchFamily="34" charset="-120"/>
              </a:rPr>
              <a:t>$120M</a:t>
            </a:r>
            <a:endParaRPr lang="en-US" sz="1800" dirty="0"/>
          </a:p>
        </p:txBody>
      </p:sp>
      <p:sp>
        <p:nvSpPr>
          <p:cNvPr id="18" name="Text 16"/>
          <p:cNvSpPr/>
          <p:nvPr/>
        </p:nvSpPr>
        <p:spPr>
          <a:xfrm>
            <a:off x="2834640" y="3776472"/>
            <a:ext cx="5852160" cy="274320"/>
          </a:xfrm>
          <a:prstGeom prst="rect">
            <a:avLst/>
          </a:prstGeom>
          <a:noFill/>
          <a:ln/>
        </p:spPr>
        <p:txBody>
          <a:bodyPr wrap="square" lIns="0" tIns="0" rIns="0" bIns="0" rtlCol="0" anchor="ctr"/>
          <a:lstStyle/>
          <a:p>
            <a:pPr indent="0" marL="0">
              <a:buNone/>
            </a:pPr>
            <a:r>
              <a:rPr lang="en-US" sz="1100" dirty="0">
                <a:solidFill>
                  <a:srgbClr val="8B8B92"/>
                </a:solidFill>
                <a:latin typeface="Inter" pitchFamily="34" charset="0"/>
                <a:ea typeface="Inter" pitchFamily="34" charset="-122"/>
                <a:cs typeface="Inter" pitchFamily="34" charset="-120"/>
              </a:rPr>
              <a:t>3-year capture: 100 mid-market fintechs at ~$100K ARR</a:t>
            </a:r>
            <a:endParaRPr lang="en-US" sz="1100" dirty="0"/>
          </a:p>
        </p:txBody>
      </p:sp>
      <p:sp>
        <p:nvSpPr>
          <p:cNvPr id="19" name="Text 17"/>
          <p:cNvSpPr/>
          <p:nvPr/>
        </p:nvSpPr>
        <p:spPr>
          <a:xfrm>
            <a:off x="457200" y="4343400"/>
            <a:ext cx="8229600" cy="274320"/>
          </a:xfrm>
          <a:prstGeom prst="rect">
            <a:avLst/>
          </a:prstGeom>
          <a:noFill/>
          <a:ln/>
        </p:spPr>
        <p:txBody>
          <a:bodyPr wrap="square" lIns="0" tIns="0" rIns="0" bIns="0" rtlCol="0" anchor="ctr"/>
          <a:lstStyle/>
          <a:p>
            <a:pPr indent="0" marL="0">
              <a:buNone/>
            </a:pPr>
            <a:r>
              <a:rPr lang="en-US" sz="1050" i="1" dirty="0">
                <a:solidFill>
                  <a:srgbClr val="5A5A60"/>
                </a:solidFill>
                <a:latin typeface="Inter" pitchFamily="34" charset="0"/>
                <a:ea typeface="Inter" pitchFamily="34" charset="-122"/>
                <a:cs typeface="Inter" pitchFamily="34" charset="-120"/>
              </a:rPr>
              <a:t>Bottom-up: 12,000+ regulated fintechs globally · avg seat $80–150K ARR · adjacent expansion into agent commerce &amp; B2B payments.</a:t>
            </a:r>
            <a:endParaRPr lang="en-US" sz="1050" dirty="0"/>
          </a:p>
        </p:txBody>
      </p:sp>
      <p:sp>
        <p:nvSpPr>
          <p:cNvPr id="20" name="Text 18"/>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09</a:t>
            </a:r>
            <a:endParaRPr lang="en-US" sz="900" dirty="0"/>
          </a:p>
        </p:txBody>
      </p:sp>
      <p:sp>
        <p:nvSpPr>
          <p:cNvPr id="21" name="Text 19"/>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MARKET</a:t>
            </a:r>
            <a:endParaRPr lang="en-US" sz="900" dirty="0"/>
          </a:p>
        </p:txBody>
      </p:sp>
      <p:sp>
        <p:nvSpPr>
          <p:cNvPr id="22" name="Text 20"/>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09 · MOAT</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indent="0" marL="0">
              <a:lnSpc>
                <a:spcPct val="110000"/>
              </a:lnSpc>
              <a:buNone/>
            </a:pPr>
            <a:r>
              <a:rPr lang="en-US" sz="3600" b="1" dirty="0">
                <a:solidFill>
                  <a:srgbClr val="FAFAFA"/>
                </a:solidFill>
                <a:latin typeface="Inter" pitchFamily="34" charset="0"/>
                <a:ea typeface="Inter" pitchFamily="34" charset="-122"/>
                <a:cs typeface="Inter" pitchFamily="34" charset="-120"/>
              </a:rPr>
              <a:t>Horizontal platforms can't</a:t>
            </a:r>
            <a:endParaRPr lang="en-US" sz="3600" dirty="0"/>
          </a:p>
          <a:p>
            <a:pPr indent="0" marL="0">
              <a:lnSpc>
                <a:spcPct val="110000"/>
              </a:lnSpc>
              <a:buNone/>
            </a:pPr>
            <a:r>
              <a:rPr lang="en-US" sz="3600" b="1" dirty="0">
                <a:solidFill>
                  <a:srgbClr val="FAFAFA"/>
                </a:solidFill>
                <a:latin typeface="Inter" pitchFamily="34" charset="0"/>
                <a:ea typeface="Inter" pitchFamily="34" charset="-122"/>
                <a:cs typeface="Inter" pitchFamily="34" charset="-120"/>
              </a:rPr>
              <a:t>build compliance-first.</a:t>
            </a:r>
            <a:endParaRPr lang="en-US" sz="3600" dirty="0"/>
          </a:p>
        </p:txBody>
      </p:sp>
      <p:sp>
        <p:nvSpPr>
          <p:cNvPr id="4" name="Text 2"/>
          <p:cNvSpPr/>
          <p:nvPr/>
        </p:nvSpPr>
        <p:spPr>
          <a:xfrm>
            <a:off x="457200" y="2331720"/>
            <a:ext cx="2468880" cy="365760"/>
          </a:xfrm>
          <a:prstGeom prst="rect">
            <a:avLst/>
          </a:prstGeom>
          <a:noFill/>
          <a:ln/>
        </p:spPr>
        <p:txBody>
          <a:bodyPr wrap="square" lIns="0" tIns="0" rIns="0" bIns="0" rtlCol="0" anchor="ctr"/>
          <a:lstStyle/>
          <a:p>
            <a:pPr indent="0" marL="0">
              <a:buNone/>
            </a:pPr>
            <a:endParaRPr lang="en-US" sz="1100" dirty="0"/>
          </a:p>
        </p:txBody>
      </p:sp>
      <p:sp>
        <p:nvSpPr>
          <p:cNvPr id="5" name="Text 3"/>
          <p:cNvSpPr/>
          <p:nvPr/>
        </p:nvSpPr>
        <p:spPr>
          <a:xfrm>
            <a:off x="2926080" y="2331720"/>
            <a:ext cx="1920240" cy="365760"/>
          </a:xfrm>
          <a:prstGeom prst="rect">
            <a:avLst/>
          </a:prstGeom>
          <a:noFill/>
          <a:ln/>
        </p:spPr>
        <p:txBody>
          <a:bodyPr wrap="square" lIns="0" tIns="0" rIns="0" bIns="0" rtlCol="0" anchor="ctr"/>
          <a:lstStyle/>
          <a:p>
            <a:pPr indent="0" marL="0">
              <a:buNone/>
            </a:pPr>
            <a:r>
              <a:rPr lang="en-US" sz="1100" b="1" spc="200" kern="0" dirty="0">
                <a:solidFill>
                  <a:srgbClr val="5A5A60"/>
                </a:solidFill>
                <a:latin typeface="Inter" pitchFamily="34" charset="0"/>
                <a:ea typeface="Inter" pitchFamily="34" charset="-122"/>
                <a:cs typeface="Inter" pitchFamily="34" charset="-120"/>
              </a:rPr>
              <a:t>Build in-house</a:t>
            </a:r>
            <a:endParaRPr lang="en-US" sz="1100" dirty="0"/>
          </a:p>
        </p:txBody>
      </p:sp>
      <p:sp>
        <p:nvSpPr>
          <p:cNvPr id="6" name="Text 4"/>
          <p:cNvSpPr/>
          <p:nvPr/>
        </p:nvSpPr>
        <p:spPr>
          <a:xfrm>
            <a:off x="4846320" y="2331720"/>
            <a:ext cx="1920240" cy="365760"/>
          </a:xfrm>
          <a:prstGeom prst="rect">
            <a:avLst/>
          </a:prstGeom>
          <a:noFill/>
          <a:ln/>
        </p:spPr>
        <p:txBody>
          <a:bodyPr wrap="square" lIns="0" tIns="0" rIns="0" bIns="0" rtlCol="0" anchor="ctr"/>
          <a:lstStyle/>
          <a:p>
            <a:pPr indent="0" marL="0">
              <a:buNone/>
            </a:pPr>
            <a:r>
              <a:rPr lang="en-US" sz="1100" b="1" spc="200" kern="0" dirty="0">
                <a:solidFill>
                  <a:srgbClr val="5A5A60"/>
                </a:solidFill>
                <a:latin typeface="Inter" pitchFamily="34" charset="0"/>
                <a:ea typeface="Inter" pitchFamily="34" charset="-122"/>
                <a:cs typeface="Inter" pitchFamily="34" charset="-120"/>
              </a:rPr>
              <a:t>AWS Bedrock</a:t>
            </a:r>
            <a:endParaRPr lang="en-US" sz="1100" dirty="0"/>
          </a:p>
        </p:txBody>
      </p:sp>
      <p:sp>
        <p:nvSpPr>
          <p:cNvPr id="7" name="Text 5"/>
          <p:cNvSpPr/>
          <p:nvPr/>
        </p:nvSpPr>
        <p:spPr>
          <a:xfrm>
            <a:off x="6766560" y="2331720"/>
            <a:ext cx="1920240" cy="365760"/>
          </a:xfrm>
          <a:prstGeom prst="rect">
            <a:avLst/>
          </a:prstGeom>
          <a:noFill/>
          <a:ln/>
        </p:spPr>
        <p:txBody>
          <a:bodyPr wrap="square" lIns="0" tIns="0" rIns="0" bIns="0" rtlCol="0" anchor="ctr"/>
          <a:lstStyle/>
          <a:p>
            <a:pPr indent="0" marL="0">
              <a:buNone/>
            </a:pPr>
            <a:r>
              <a:rPr lang="en-US" sz="1100" b="1" spc="200" kern="0" dirty="0">
                <a:solidFill>
                  <a:srgbClr val="BAFC00"/>
                </a:solidFill>
                <a:latin typeface="Inter" pitchFamily="34" charset="0"/>
                <a:ea typeface="Inter" pitchFamily="34" charset="-122"/>
                <a:cs typeface="Inter" pitchFamily="34" charset="-120"/>
              </a:rPr>
              <a:t>Inflection</a:t>
            </a:r>
            <a:endParaRPr lang="en-US" sz="1100" dirty="0"/>
          </a:p>
        </p:txBody>
      </p:sp>
      <p:sp>
        <p:nvSpPr>
          <p:cNvPr id="8" name="Shape 6"/>
          <p:cNvSpPr/>
          <p:nvPr/>
        </p:nvSpPr>
        <p:spPr>
          <a:xfrm>
            <a:off x="457200" y="2743200"/>
            <a:ext cx="8229600" cy="0"/>
          </a:xfrm>
          <a:prstGeom prst="line">
            <a:avLst/>
          </a:prstGeom>
          <a:noFill/>
          <a:ln w="9525">
            <a:solidFill>
              <a:srgbClr val="26262A"/>
            </a:solidFill>
            <a:prstDash val="solid"/>
          </a:ln>
        </p:spPr>
        <p:txBody>
          <a:bodyPr/>
          <a:p/>
        </p:txBody>
      </p:sp>
      <p:sp>
        <p:nvSpPr>
          <p:cNvPr id="9" name="Text 7"/>
          <p:cNvSpPr/>
          <p:nvPr/>
        </p:nvSpPr>
        <p:spPr>
          <a:xfrm>
            <a:off x="457200" y="2834640"/>
            <a:ext cx="2468880" cy="365760"/>
          </a:xfrm>
          <a:prstGeom prst="rect">
            <a:avLst/>
          </a:prstGeom>
          <a:noFill/>
          <a:ln/>
        </p:spPr>
        <p:txBody>
          <a:bodyPr wrap="square" lIns="0" tIns="0" rIns="0" bIns="0" rtlCol="0" anchor="ctr"/>
          <a:lstStyle/>
          <a:p>
            <a:pPr indent="0" marL="0">
              <a:buNone/>
            </a:pPr>
            <a:r>
              <a:rPr lang="en-US" sz="1200" b="1" dirty="0">
                <a:solidFill>
                  <a:srgbClr val="FAFAFA"/>
                </a:solidFill>
                <a:latin typeface="Inter" pitchFamily="34" charset="0"/>
                <a:ea typeface="Inter" pitchFamily="34" charset="-122"/>
                <a:cs typeface="Inter" pitchFamily="34" charset="-120"/>
              </a:rPr>
              <a:t>Time to first agent</a:t>
            </a:r>
            <a:endParaRPr lang="en-US" sz="1200" dirty="0"/>
          </a:p>
        </p:txBody>
      </p:sp>
      <p:sp>
        <p:nvSpPr>
          <p:cNvPr id="10" name="Text 8"/>
          <p:cNvSpPr/>
          <p:nvPr/>
        </p:nvSpPr>
        <p:spPr>
          <a:xfrm>
            <a:off x="2926080" y="283464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12–18 months</a:t>
            </a:r>
            <a:endParaRPr lang="en-US" sz="1200" dirty="0"/>
          </a:p>
        </p:txBody>
      </p:sp>
      <p:sp>
        <p:nvSpPr>
          <p:cNvPr id="11" name="Text 9"/>
          <p:cNvSpPr/>
          <p:nvPr/>
        </p:nvSpPr>
        <p:spPr>
          <a:xfrm>
            <a:off x="4846320" y="283464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6 months</a:t>
            </a:r>
            <a:endParaRPr lang="en-US" sz="1200" dirty="0"/>
          </a:p>
        </p:txBody>
      </p:sp>
      <p:sp>
        <p:nvSpPr>
          <p:cNvPr id="12" name="Text 10"/>
          <p:cNvSpPr/>
          <p:nvPr/>
        </p:nvSpPr>
        <p:spPr>
          <a:xfrm>
            <a:off x="6766560" y="2834640"/>
            <a:ext cx="1920240" cy="365760"/>
          </a:xfrm>
          <a:prstGeom prst="rect">
            <a:avLst/>
          </a:prstGeom>
          <a:noFill/>
          <a:ln/>
        </p:spPr>
        <p:txBody>
          <a:bodyPr wrap="square" lIns="0" tIns="0" rIns="0" bIns="0" rtlCol="0" anchor="ctr"/>
          <a:lstStyle/>
          <a:p>
            <a:pPr indent="0" marL="0">
              <a:buNone/>
            </a:pPr>
            <a:r>
              <a:rPr lang="en-US" sz="1200" b="1" dirty="0">
                <a:solidFill>
                  <a:srgbClr val="BAFC00"/>
                </a:solidFill>
                <a:latin typeface="Inter" pitchFamily="34" charset="0"/>
                <a:ea typeface="Inter" pitchFamily="34" charset="-122"/>
                <a:cs typeface="Inter" pitchFamily="34" charset="-120"/>
              </a:rPr>
              <a:t>1 week</a:t>
            </a:r>
            <a:endParaRPr lang="en-US" sz="1200" dirty="0"/>
          </a:p>
        </p:txBody>
      </p:sp>
      <p:sp>
        <p:nvSpPr>
          <p:cNvPr id="13" name="Text 11"/>
          <p:cNvSpPr/>
          <p:nvPr/>
        </p:nvSpPr>
        <p:spPr>
          <a:xfrm>
            <a:off x="457200" y="3200400"/>
            <a:ext cx="2468880" cy="365760"/>
          </a:xfrm>
          <a:prstGeom prst="rect">
            <a:avLst/>
          </a:prstGeom>
          <a:noFill/>
          <a:ln/>
        </p:spPr>
        <p:txBody>
          <a:bodyPr wrap="square" lIns="0" tIns="0" rIns="0" bIns="0" rtlCol="0" anchor="ctr"/>
          <a:lstStyle/>
          <a:p>
            <a:pPr indent="0" marL="0">
              <a:buNone/>
            </a:pPr>
            <a:r>
              <a:rPr lang="en-US" sz="1200" b="1" dirty="0">
                <a:solidFill>
                  <a:srgbClr val="FAFAFA"/>
                </a:solidFill>
                <a:latin typeface="Inter" pitchFamily="34" charset="0"/>
                <a:ea typeface="Inter" pitchFamily="34" charset="-122"/>
                <a:cs typeface="Inter" pitchFamily="34" charset="-120"/>
              </a:rPr>
              <a:t>Financial-grade audit</a:t>
            </a:r>
            <a:endParaRPr lang="en-US" sz="1200" dirty="0"/>
          </a:p>
        </p:txBody>
      </p:sp>
      <p:sp>
        <p:nvSpPr>
          <p:cNvPr id="14" name="Text 12"/>
          <p:cNvSpPr/>
          <p:nvPr/>
        </p:nvSpPr>
        <p:spPr>
          <a:xfrm>
            <a:off x="2926080" y="320040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Build it</a:t>
            </a:r>
            <a:endParaRPr lang="en-US" sz="1200" dirty="0"/>
          </a:p>
        </p:txBody>
      </p:sp>
      <p:sp>
        <p:nvSpPr>
          <p:cNvPr id="15" name="Text 13"/>
          <p:cNvSpPr/>
          <p:nvPr/>
        </p:nvSpPr>
        <p:spPr>
          <a:xfrm>
            <a:off x="4846320" y="320040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DIY</a:t>
            </a:r>
            <a:endParaRPr lang="en-US" sz="1200" dirty="0"/>
          </a:p>
        </p:txBody>
      </p:sp>
      <p:sp>
        <p:nvSpPr>
          <p:cNvPr id="16" name="Text 14"/>
          <p:cNvSpPr/>
          <p:nvPr/>
        </p:nvSpPr>
        <p:spPr>
          <a:xfrm>
            <a:off x="6766560" y="3200400"/>
            <a:ext cx="1920240" cy="365760"/>
          </a:xfrm>
          <a:prstGeom prst="rect">
            <a:avLst/>
          </a:prstGeom>
          <a:noFill/>
          <a:ln/>
        </p:spPr>
        <p:txBody>
          <a:bodyPr wrap="square" lIns="0" tIns="0" rIns="0" bIns="0" rtlCol="0" anchor="ctr"/>
          <a:lstStyle/>
          <a:p>
            <a:pPr indent="0" marL="0">
              <a:buNone/>
            </a:pPr>
            <a:r>
              <a:rPr lang="en-US" sz="1200" b="1" dirty="0">
                <a:solidFill>
                  <a:srgbClr val="BAFC00"/>
                </a:solidFill>
                <a:latin typeface="Inter" pitchFamily="34" charset="0"/>
                <a:ea typeface="Inter" pitchFamily="34" charset="-122"/>
                <a:cs typeface="Inter" pitchFamily="34" charset="-120"/>
              </a:rPr>
              <a:t>Built in</a:t>
            </a:r>
            <a:endParaRPr lang="en-US" sz="1200" dirty="0"/>
          </a:p>
        </p:txBody>
      </p:sp>
      <p:sp>
        <p:nvSpPr>
          <p:cNvPr id="17" name="Text 15"/>
          <p:cNvSpPr/>
          <p:nvPr/>
        </p:nvSpPr>
        <p:spPr>
          <a:xfrm>
            <a:off x="457200" y="3566160"/>
            <a:ext cx="2468880" cy="365760"/>
          </a:xfrm>
          <a:prstGeom prst="rect">
            <a:avLst/>
          </a:prstGeom>
          <a:noFill/>
          <a:ln/>
        </p:spPr>
        <p:txBody>
          <a:bodyPr wrap="square" lIns="0" tIns="0" rIns="0" bIns="0" rtlCol="0" anchor="ctr"/>
          <a:lstStyle/>
          <a:p>
            <a:pPr indent="0" marL="0">
              <a:buNone/>
            </a:pPr>
            <a:r>
              <a:rPr lang="en-US" sz="1200" b="1" dirty="0">
                <a:solidFill>
                  <a:srgbClr val="FAFAFA"/>
                </a:solidFill>
                <a:latin typeface="Inter" pitchFamily="34" charset="0"/>
                <a:ea typeface="Inter" pitchFamily="34" charset="-122"/>
                <a:cs typeface="Inter" pitchFamily="34" charset="-120"/>
              </a:rPr>
              <a:t>KYC + identity</a:t>
            </a:r>
            <a:endParaRPr lang="en-US" sz="1200" dirty="0"/>
          </a:p>
        </p:txBody>
      </p:sp>
      <p:sp>
        <p:nvSpPr>
          <p:cNvPr id="18" name="Text 16"/>
          <p:cNvSpPr/>
          <p:nvPr/>
        </p:nvSpPr>
        <p:spPr>
          <a:xfrm>
            <a:off x="2926080" y="356616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Build it</a:t>
            </a:r>
            <a:endParaRPr lang="en-US" sz="1200" dirty="0"/>
          </a:p>
        </p:txBody>
      </p:sp>
      <p:sp>
        <p:nvSpPr>
          <p:cNvPr id="19" name="Text 17"/>
          <p:cNvSpPr/>
          <p:nvPr/>
        </p:nvSpPr>
        <p:spPr>
          <a:xfrm>
            <a:off x="4846320" y="356616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a:t>
            </a:r>
            <a:endParaRPr lang="en-US" sz="1200" dirty="0"/>
          </a:p>
        </p:txBody>
      </p:sp>
      <p:sp>
        <p:nvSpPr>
          <p:cNvPr id="20" name="Text 18"/>
          <p:cNvSpPr/>
          <p:nvPr/>
        </p:nvSpPr>
        <p:spPr>
          <a:xfrm>
            <a:off x="6766560" y="3566160"/>
            <a:ext cx="1920240" cy="365760"/>
          </a:xfrm>
          <a:prstGeom prst="rect">
            <a:avLst/>
          </a:prstGeom>
          <a:noFill/>
          <a:ln/>
        </p:spPr>
        <p:txBody>
          <a:bodyPr wrap="square" lIns="0" tIns="0" rIns="0" bIns="0" rtlCol="0" anchor="ctr"/>
          <a:lstStyle/>
          <a:p>
            <a:pPr indent="0" marL="0">
              <a:buNone/>
            </a:pPr>
            <a:r>
              <a:rPr lang="en-US" sz="1200" b="1" dirty="0">
                <a:solidFill>
                  <a:srgbClr val="BAFC00"/>
                </a:solidFill>
                <a:latin typeface="Inter" pitchFamily="34" charset="0"/>
                <a:ea typeface="Inter" pitchFamily="34" charset="-122"/>
                <a:cs typeface="Inter" pitchFamily="34" charset="-120"/>
              </a:rPr>
              <a:t>Native</a:t>
            </a:r>
            <a:endParaRPr lang="en-US" sz="1200" dirty="0"/>
          </a:p>
        </p:txBody>
      </p:sp>
      <p:sp>
        <p:nvSpPr>
          <p:cNvPr id="21" name="Text 19"/>
          <p:cNvSpPr/>
          <p:nvPr/>
        </p:nvSpPr>
        <p:spPr>
          <a:xfrm>
            <a:off x="457200" y="3931920"/>
            <a:ext cx="2468880" cy="365760"/>
          </a:xfrm>
          <a:prstGeom prst="rect">
            <a:avLst/>
          </a:prstGeom>
          <a:noFill/>
          <a:ln/>
        </p:spPr>
        <p:txBody>
          <a:bodyPr wrap="square" lIns="0" tIns="0" rIns="0" bIns="0" rtlCol="0" anchor="ctr"/>
          <a:lstStyle/>
          <a:p>
            <a:pPr indent="0" marL="0">
              <a:buNone/>
            </a:pPr>
            <a:r>
              <a:rPr lang="en-US" sz="1200" b="1" dirty="0">
                <a:solidFill>
                  <a:srgbClr val="FAFAFA"/>
                </a:solidFill>
                <a:latin typeface="Inter" pitchFamily="34" charset="0"/>
                <a:ea typeface="Inter" pitchFamily="34" charset="-122"/>
                <a:cs typeface="Inter" pitchFamily="34" charset="-120"/>
              </a:rPr>
              <a:t>White-labeled UI</a:t>
            </a:r>
            <a:endParaRPr lang="en-US" sz="1200" dirty="0"/>
          </a:p>
        </p:txBody>
      </p:sp>
      <p:sp>
        <p:nvSpPr>
          <p:cNvPr id="22" name="Text 20"/>
          <p:cNvSpPr/>
          <p:nvPr/>
        </p:nvSpPr>
        <p:spPr>
          <a:xfrm>
            <a:off x="2926080" y="393192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Build it</a:t>
            </a:r>
            <a:endParaRPr lang="en-US" sz="1200" dirty="0"/>
          </a:p>
        </p:txBody>
      </p:sp>
      <p:sp>
        <p:nvSpPr>
          <p:cNvPr id="23" name="Text 21"/>
          <p:cNvSpPr/>
          <p:nvPr/>
        </p:nvSpPr>
        <p:spPr>
          <a:xfrm>
            <a:off x="4846320" y="393192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a:t>
            </a:r>
            <a:endParaRPr lang="en-US" sz="1200" dirty="0"/>
          </a:p>
        </p:txBody>
      </p:sp>
      <p:sp>
        <p:nvSpPr>
          <p:cNvPr id="24" name="Text 22"/>
          <p:cNvSpPr/>
          <p:nvPr/>
        </p:nvSpPr>
        <p:spPr>
          <a:xfrm>
            <a:off x="6766560" y="3931920"/>
            <a:ext cx="1920240" cy="365760"/>
          </a:xfrm>
          <a:prstGeom prst="rect">
            <a:avLst/>
          </a:prstGeom>
          <a:noFill/>
          <a:ln/>
        </p:spPr>
        <p:txBody>
          <a:bodyPr wrap="square" lIns="0" tIns="0" rIns="0" bIns="0" rtlCol="0" anchor="ctr"/>
          <a:lstStyle/>
          <a:p>
            <a:pPr indent="0" marL="0">
              <a:buNone/>
            </a:pPr>
            <a:r>
              <a:rPr lang="en-US" sz="1200" b="1" dirty="0">
                <a:solidFill>
                  <a:srgbClr val="BAFC00"/>
                </a:solidFill>
                <a:latin typeface="Inter" pitchFamily="34" charset="0"/>
                <a:ea typeface="Inter" pitchFamily="34" charset="-122"/>
                <a:cs typeface="Inter" pitchFamily="34" charset="-120"/>
              </a:rPr>
              <a:t>Included</a:t>
            </a:r>
            <a:endParaRPr lang="en-US" sz="1200" dirty="0"/>
          </a:p>
        </p:txBody>
      </p:sp>
      <p:sp>
        <p:nvSpPr>
          <p:cNvPr id="25" name="Text 23"/>
          <p:cNvSpPr/>
          <p:nvPr/>
        </p:nvSpPr>
        <p:spPr>
          <a:xfrm>
            <a:off x="457200" y="4297680"/>
            <a:ext cx="2468880" cy="365760"/>
          </a:xfrm>
          <a:prstGeom prst="rect">
            <a:avLst/>
          </a:prstGeom>
          <a:noFill/>
          <a:ln/>
        </p:spPr>
        <p:txBody>
          <a:bodyPr wrap="square" lIns="0" tIns="0" rIns="0" bIns="0" rtlCol="0" anchor="ctr"/>
          <a:lstStyle/>
          <a:p>
            <a:pPr indent="0" marL="0">
              <a:buNone/>
            </a:pPr>
            <a:r>
              <a:rPr lang="en-US" sz="1200" b="1" dirty="0">
                <a:solidFill>
                  <a:srgbClr val="FAFAFA"/>
                </a:solidFill>
                <a:latin typeface="Inter" pitchFamily="34" charset="0"/>
                <a:ea typeface="Inter" pitchFamily="34" charset="-122"/>
                <a:cs typeface="Inter" pitchFamily="34" charset="-120"/>
              </a:rPr>
              <a:t>Compliance by default</a:t>
            </a:r>
            <a:endParaRPr lang="en-US" sz="1200" dirty="0"/>
          </a:p>
        </p:txBody>
      </p:sp>
      <p:sp>
        <p:nvSpPr>
          <p:cNvPr id="26" name="Text 24"/>
          <p:cNvSpPr/>
          <p:nvPr/>
        </p:nvSpPr>
        <p:spPr>
          <a:xfrm>
            <a:off x="2926080" y="429768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No</a:t>
            </a:r>
            <a:endParaRPr lang="en-US" sz="1200" dirty="0"/>
          </a:p>
        </p:txBody>
      </p:sp>
      <p:sp>
        <p:nvSpPr>
          <p:cNvPr id="27" name="Text 25"/>
          <p:cNvSpPr/>
          <p:nvPr/>
        </p:nvSpPr>
        <p:spPr>
          <a:xfrm>
            <a:off x="4846320" y="4297680"/>
            <a:ext cx="1920240" cy="365760"/>
          </a:xfrm>
          <a:prstGeom prst="rect">
            <a:avLst/>
          </a:prstGeom>
          <a:noFill/>
          <a:ln/>
        </p:spPr>
        <p:txBody>
          <a:bodyPr wrap="square" lIns="0" tIns="0" rIns="0" bIns="0" rtlCol="0" anchor="ctr"/>
          <a:lstStyle/>
          <a:p>
            <a:pPr indent="0" marL="0">
              <a:buNone/>
            </a:pPr>
            <a:r>
              <a:rPr lang="en-US" sz="1200" dirty="0">
                <a:solidFill>
                  <a:srgbClr val="8B8B92"/>
                </a:solidFill>
                <a:latin typeface="Inter" pitchFamily="34" charset="0"/>
                <a:ea typeface="Inter" pitchFamily="34" charset="-122"/>
                <a:cs typeface="Inter" pitchFamily="34" charset="-120"/>
              </a:rPr>
              <a:t>No</a:t>
            </a:r>
            <a:endParaRPr lang="en-US" sz="1200" dirty="0"/>
          </a:p>
        </p:txBody>
      </p:sp>
      <p:sp>
        <p:nvSpPr>
          <p:cNvPr id="28" name="Text 26"/>
          <p:cNvSpPr/>
          <p:nvPr/>
        </p:nvSpPr>
        <p:spPr>
          <a:xfrm>
            <a:off x="6766560" y="4297680"/>
            <a:ext cx="1920240" cy="365760"/>
          </a:xfrm>
          <a:prstGeom prst="rect">
            <a:avLst/>
          </a:prstGeom>
          <a:noFill/>
          <a:ln/>
        </p:spPr>
        <p:txBody>
          <a:bodyPr wrap="square" lIns="0" tIns="0" rIns="0" bIns="0" rtlCol="0" anchor="ctr"/>
          <a:lstStyle/>
          <a:p>
            <a:pPr indent="0" marL="0">
              <a:buNone/>
            </a:pPr>
            <a:r>
              <a:rPr lang="en-US" sz="1200" b="1" dirty="0">
                <a:solidFill>
                  <a:srgbClr val="BAFC00"/>
                </a:solidFill>
                <a:latin typeface="Inter" pitchFamily="34" charset="0"/>
                <a:ea typeface="Inter" pitchFamily="34" charset="-122"/>
                <a:cs typeface="Inter" pitchFamily="34" charset="-120"/>
              </a:rPr>
              <a:t>Yes</a:t>
            </a:r>
            <a:endParaRPr lang="en-US" sz="1200" dirty="0"/>
          </a:p>
        </p:txBody>
      </p:sp>
      <p:sp>
        <p:nvSpPr>
          <p:cNvPr id="29" name="Text 27"/>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10</a:t>
            </a:r>
            <a:endParaRPr lang="en-US" sz="900" dirty="0"/>
          </a:p>
        </p:txBody>
      </p:sp>
      <p:sp>
        <p:nvSpPr>
          <p:cNvPr id="30" name="Text 28"/>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MOAT</a:t>
            </a:r>
            <a:endParaRPr lang="en-US" sz="900" dirty="0"/>
          </a:p>
        </p:txBody>
      </p:sp>
      <p:sp>
        <p:nvSpPr>
          <p:cNvPr id="31" name="Text 29"/>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10 · TRACTION</a:t>
            </a:r>
            <a:endParaRPr lang="en-US" sz="1000" dirty="0"/>
          </a:p>
        </p:txBody>
      </p:sp>
      <p:sp>
        <p:nvSpPr>
          <p:cNvPr id="3" name="Text 1"/>
          <p:cNvSpPr/>
          <p:nvPr/>
        </p:nvSpPr>
        <p:spPr>
          <a:xfrm>
            <a:off x="457200" y="822960"/>
            <a:ext cx="8229600" cy="731520"/>
          </a:xfrm>
          <a:prstGeom prst="rect">
            <a:avLst/>
          </a:prstGeom>
          <a:noFill/>
          <a:ln/>
        </p:spPr>
        <p:txBody>
          <a:bodyPr wrap="square" lIns="0" tIns="0" rIns="0" bIns="0" rtlCol="0" anchor="ctr"/>
          <a:lstStyle/>
          <a:p>
            <a:pPr indent="0" marL="0">
              <a:lnSpc>
                <a:spcPct val="110000"/>
              </a:lnSpc>
              <a:buNone/>
            </a:pPr>
            <a:r>
              <a:rPr lang="en-US" sz="4000" b="1" dirty="0">
                <a:solidFill>
                  <a:srgbClr val="FAFAFA"/>
                </a:solidFill>
                <a:latin typeface="Inter" pitchFamily="34" charset="0"/>
                <a:ea typeface="Inter" pitchFamily="34" charset="-122"/>
                <a:cs typeface="Inter" pitchFamily="34" charset="-120"/>
              </a:rPr>
              <a:t>Built. Shipped. Validated.</a:t>
            </a:r>
            <a:endParaRPr lang="en-US" sz="4000" dirty="0"/>
          </a:p>
        </p:txBody>
      </p:sp>
      <p:sp>
        <p:nvSpPr>
          <p:cNvPr id="4" name="Shape 2"/>
          <p:cNvSpPr/>
          <p:nvPr/>
        </p:nvSpPr>
        <p:spPr>
          <a:xfrm>
            <a:off x="457200" y="2011680"/>
            <a:ext cx="3931920" cy="1097280"/>
          </a:xfrm>
          <a:prstGeom prst="rect">
            <a:avLst/>
          </a:prstGeom>
          <a:solidFill>
            <a:srgbClr val="141416"/>
          </a:solidFill>
          <a:ln w="9525">
            <a:solidFill>
              <a:srgbClr val="26262A"/>
            </a:solidFill>
            <a:prstDash val="solid"/>
          </a:ln>
        </p:spPr>
        <p:txBody>
          <a:bodyPr/>
          <a:p/>
        </p:txBody>
      </p:sp>
      <p:sp>
        <p:nvSpPr>
          <p:cNvPr id="5" name="Shape 3"/>
          <p:cNvSpPr/>
          <p:nvPr/>
        </p:nvSpPr>
        <p:spPr>
          <a:xfrm>
            <a:off x="457200" y="2011680"/>
            <a:ext cx="73152" cy="1097280"/>
          </a:xfrm>
          <a:prstGeom prst="rect">
            <a:avLst/>
          </a:prstGeom>
          <a:solidFill>
            <a:srgbClr val="BAFC00"/>
          </a:solidFill>
          <a:ln w="12700">
            <a:solidFill>
              <a:srgbClr val="BAFC00"/>
            </a:solidFill>
            <a:prstDash val="solid"/>
          </a:ln>
        </p:spPr>
        <p:txBody>
          <a:bodyPr/>
          <a:p/>
        </p:txBody>
      </p:sp>
      <p:sp>
        <p:nvSpPr>
          <p:cNvPr id="6" name="Text 4"/>
          <p:cNvSpPr/>
          <p:nvPr/>
        </p:nvSpPr>
        <p:spPr>
          <a:xfrm>
            <a:off x="731520" y="2148840"/>
            <a:ext cx="1691640" cy="594360"/>
          </a:xfrm>
          <a:prstGeom prst="rect">
            <a:avLst/>
          </a:prstGeom>
          <a:noFill/>
          <a:ln/>
        </p:spPr>
        <p:txBody>
          <a:bodyPr wrap="square" lIns="0" tIns="0" rIns="0" bIns="0" rtlCol="0" anchor="ctr"/>
          <a:lstStyle/>
          <a:p>
            <a:pPr indent="0" marL="0">
              <a:buNone/>
            </a:pPr>
            <a:r>
              <a:rPr lang="en-US" sz="3600" b="1" dirty="0">
                <a:solidFill>
                  <a:srgbClr val="BAFC00"/>
                </a:solidFill>
                <a:latin typeface="Inter" pitchFamily="34" charset="0"/>
                <a:ea typeface="Inter" pitchFamily="34" charset="-122"/>
                <a:cs typeface="Inter" pitchFamily="34" charset="-120"/>
              </a:rPr>
              <a:t>3</a:t>
            </a:r>
            <a:endParaRPr lang="en-US" sz="3600" dirty="0"/>
          </a:p>
        </p:txBody>
      </p:sp>
      <p:sp>
        <p:nvSpPr>
          <p:cNvPr id="7" name="Text 5"/>
          <p:cNvSpPr/>
          <p:nvPr/>
        </p:nvSpPr>
        <p:spPr>
          <a:xfrm>
            <a:off x="2423160" y="2194560"/>
            <a:ext cx="1828800" cy="274320"/>
          </a:xfrm>
          <a:prstGeom prst="rect">
            <a:avLst/>
          </a:prstGeom>
          <a:noFill/>
          <a:ln/>
        </p:spPr>
        <p:txBody>
          <a:bodyPr wrap="square" lIns="0" tIns="0" rIns="0" bIns="0" rtlCol="0" anchor="ctr"/>
          <a:lstStyle/>
          <a:p>
            <a:pPr indent="0" marL="0">
              <a:buNone/>
            </a:pPr>
            <a:r>
              <a:rPr lang="en-US" sz="1300" b="1" dirty="0">
                <a:solidFill>
                  <a:srgbClr val="FAFAFA"/>
                </a:solidFill>
                <a:latin typeface="Inter" pitchFamily="34" charset="0"/>
                <a:ea typeface="Inter" pitchFamily="34" charset="-122"/>
                <a:cs typeface="Inter" pitchFamily="34" charset="-120"/>
              </a:rPr>
              <a:t>design partners signed</a:t>
            </a:r>
            <a:endParaRPr lang="en-US" sz="1300" dirty="0"/>
          </a:p>
        </p:txBody>
      </p:sp>
      <p:sp>
        <p:nvSpPr>
          <p:cNvPr id="8" name="Text 6"/>
          <p:cNvSpPr/>
          <p:nvPr/>
        </p:nvSpPr>
        <p:spPr>
          <a:xfrm>
            <a:off x="2423160" y="2514600"/>
            <a:ext cx="1828800" cy="502920"/>
          </a:xfrm>
          <a:prstGeom prst="rect">
            <a:avLst/>
          </a:prstGeom>
          <a:noFill/>
          <a:ln/>
        </p:spPr>
        <p:txBody>
          <a:bodyPr wrap="square" lIns="0" tIns="0" rIns="0" bIns="0" rtlCol="0" anchor="ctr"/>
          <a:lstStyle/>
          <a:p>
            <a:pPr indent="0" marL="0">
              <a:lnSpc>
                <a:spcPct val="130000"/>
              </a:lnSpc>
              <a:buNone/>
            </a:pPr>
            <a:r>
              <a:rPr lang="en-US" sz="1050" dirty="0">
                <a:solidFill>
                  <a:srgbClr val="8B8B92"/>
                </a:solidFill>
                <a:latin typeface="Inter" pitchFamily="34" charset="0"/>
                <a:ea typeface="Inter" pitchFamily="34" charset="-122"/>
                <a:cs typeface="Inter" pitchFamily="34" charset="-120"/>
              </a:rPr>
              <a:t>Maersk, WeWork Labs, GE Healthcare</a:t>
            </a:r>
            <a:endParaRPr lang="en-US" sz="1050" dirty="0"/>
          </a:p>
        </p:txBody>
      </p:sp>
      <p:sp>
        <p:nvSpPr>
          <p:cNvPr id="9" name="Shape 7"/>
          <p:cNvSpPr/>
          <p:nvPr/>
        </p:nvSpPr>
        <p:spPr>
          <a:xfrm>
            <a:off x="4754880" y="2011680"/>
            <a:ext cx="3931920" cy="1097280"/>
          </a:xfrm>
          <a:prstGeom prst="rect">
            <a:avLst/>
          </a:prstGeom>
          <a:solidFill>
            <a:srgbClr val="141416"/>
          </a:solidFill>
          <a:ln w="9525">
            <a:solidFill>
              <a:srgbClr val="26262A"/>
            </a:solidFill>
            <a:prstDash val="solid"/>
          </a:ln>
        </p:spPr>
        <p:txBody>
          <a:bodyPr/>
          <a:p/>
        </p:txBody>
      </p:sp>
      <p:sp>
        <p:nvSpPr>
          <p:cNvPr id="10" name="Shape 8"/>
          <p:cNvSpPr/>
          <p:nvPr/>
        </p:nvSpPr>
        <p:spPr>
          <a:xfrm>
            <a:off x="4754880" y="2011680"/>
            <a:ext cx="73152" cy="1097280"/>
          </a:xfrm>
          <a:prstGeom prst="rect">
            <a:avLst/>
          </a:prstGeom>
          <a:solidFill>
            <a:srgbClr val="BAFC00"/>
          </a:solidFill>
          <a:ln w="12700">
            <a:solidFill>
              <a:srgbClr val="BAFC00"/>
            </a:solidFill>
            <a:prstDash val="solid"/>
          </a:ln>
        </p:spPr>
        <p:txBody>
          <a:bodyPr/>
          <a:p/>
        </p:txBody>
      </p:sp>
      <p:sp>
        <p:nvSpPr>
          <p:cNvPr id="11" name="Text 9"/>
          <p:cNvSpPr/>
          <p:nvPr/>
        </p:nvSpPr>
        <p:spPr>
          <a:xfrm>
            <a:off x="5029200" y="2148840"/>
            <a:ext cx="1691640" cy="594360"/>
          </a:xfrm>
          <a:prstGeom prst="rect">
            <a:avLst/>
          </a:prstGeom>
          <a:noFill/>
          <a:ln/>
        </p:spPr>
        <p:txBody>
          <a:bodyPr wrap="square" lIns="0" tIns="0" rIns="0" bIns="0" rtlCol="0" anchor="ctr"/>
          <a:lstStyle/>
          <a:p>
            <a:pPr indent="0" marL="0">
              <a:buNone/>
            </a:pPr>
            <a:r>
              <a:rPr lang="en-US" sz="3600" b="1" dirty="0">
                <a:solidFill>
                  <a:srgbClr val="BAFC00"/>
                </a:solidFill>
                <a:latin typeface="Inter" pitchFamily="34" charset="0"/>
                <a:ea typeface="Inter" pitchFamily="34" charset="-122"/>
                <a:cs typeface="Inter" pitchFamily="34" charset="-120"/>
              </a:rPr>
              <a:t>v1</a:t>
            </a:r>
            <a:endParaRPr lang="en-US" sz="3600" dirty="0"/>
          </a:p>
        </p:txBody>
      </p:sp>
      <p:sp>
        <p:nvSpPr>
          <p:cNvPr id="12" name="Text 10"/>
          <p:cNvSpPr/>
          <p:nvPr/>
        </p:nvSpPr>
        <p:spPr>
          <a:xfrm>
            <a:off x="6720840" y="2194560"/>
            <a:ext cx="1828800" cy="274320"/>
          </a:xfrm>
          <a:prstGeom prst="rect">
            <a:avLst/>
          </a:prstGeom>
          <a:noFill/>
          <a:ln/>
        </p:spPr>
        <p:txBody>
          <a:bodyPr wrap="square" lIns="0" tIns="0" rIns="0" bIns="0" rtlCol="0" anchor="ctr"/>
          <a:lstStyle/>
          <a:p>
            <a:pPr indent="0" marL="0">
              <a:buNone/>
            </a:pPr>
            <a:r>
              <a:rPr lang="en-US" sz="1300" b="1" dirty="0">
                <a:solidFill>
                  <a:srgbClr val="FAFAFA"/>
                </a:solidFill>
                <a:latin typeface="Inter" pitchFamily="34" charset="0"/>
                <a:ea typeface="Inter" pitchFamily="34" charset="-122"/>
                <a:cs typeface="Inter" pitchFamily="34" charset="-120"/>
              </a:rPr>
              <a:t>runtime in production</a:t>
            </a:r>
            <a:endParaRPr lang="en-US" sz="1300" dirty="0"/>
          </a:p>
        </p:txBody>
      </p:sp>
      <p:sp>
        <p:nvSpPr>
          <p:cNvPr id="13" name="Text 11"/>
          <p:cNvSpPr/>
          <p:nvPr/>
        </p:nvSpPr>
        <p:spPr>
          <a:xfrm>
            <a:off x="6720840" y="2514600"/>
            <a:ext cx="1828800" cy="502920"/>
          </a:xfrm>
          <a:prstGeom prst="rect">
            <a:avLst/>
          </a:prstGeom>
          <a:noFill/>
          <a:ln/>
        </p:spPr>
        <p:txBody>
          <a:bodyPr wrap="square" lIns="0" tIns="0" rIns="0" bIns="0" rtlCol="0" anchor="ctr"/>
          <a:lstStyle/>
          <a:p>
            <a:pPr indent="0" marL="0">
              <a:lnSpc>
                <a:spcPct val="130000"/>
              </a:lnSpc>
              <a:buNone/>
            </a:pPr>
            <a:r>
              <a:rPr lang="en-US" sz="1050" dirty="0">
                <a:solidFill>
                  <a:srgbClr val="8B8B92"/>
                </a:solidFill>
                <a:latin typeface="Inter" pitchFamily="34" charset="0"/>
                <a:ea typeface="Inter" pitchFamily="34" charset="-122"/>
                <a:cs typeface="Inter" pitchFamily="34" charset="-120"/>
              </a:rPr>
              <a:t>Vault, audit log, policy engine, kill switch</a:t>
            </a:r>
            <a:endParaRPr lang="en-US" sz="1050" dirty="0"/>
          </a:p>
        </p:txBody>
      </p:sp>
      <p:sp>
        <p:nvSpPr>
          <p:cNvPr id="14" name="Shape 12"/>
          <p:cNvSpPr/>
          <p:nvPr/>
        </p:nvSpPr>
        <p:spPr>
          <a:xfrm>
            <a:off x="457200" y="3337560"/>
            <a:ext cx="3931920" cy="1097280"/>
          </a:xfrm>
          <a:prstGeom prst="rect">
            <a:avLst/>
          </a:prstGeom>
          <a:solidFill>
            <a:srgbClr val="141416"/>
          </a:solidFill>
          <a:ln w="9525">
            <a:solidFill>
              <a:srgbClr val="26262A"/>
            </a:solidFill>
            <a:prstDash val="solid"/>
          </a:ln>
        </p:spPr>
        <p:txBody>
          <a:bodyPr/>
          <a:p/>
        </p:txBody>
      </p:sp>
      <p:sp>
        <p:nvSpPr>
          <p:cNvPr id="15" name="Shape 13"/>
          <p:cNvSpPr/>
          <p:nvPr/>
        </p:nvSpPr>
        <p:spPr>
          <a:xfrm>
            <a:off x="457200" y="3337560"/>
            <a:ext cx="73152" cy="1097280"/>
          </a:xfrm>
          <a:prstGeom prst="rect">
            <a:avLst/>
          </a:prstGeom>
          <a:solidFill>
            <a:srgbClr val="BAFC00"/>
          </a:solidFill>
          <a:ln w="12700">
            <a:solidFill>
              <a:srgbClr val="BAFC00"/>
            </a:solidFill>
            <a:prstDash val="solid"/>
          </a:ln>
        </p:spPr>
        <p:txBody>
          <a:bodyPr/>
          <a:p/>
        </p:txBody>
      </p:sp>
      <p:sp>
        <p:nvSpPr>
          <p:cNvPr id="16" name="Text 14"/>
          <p:cNvSpPr/>
          <p:nvPr/>
        </p:nvSpPr>
        <p:spPr>
          <a:xfrm>
            <a:off x="731520" y="3474720"/>
            <a:ext cx="1691640" cy="594360"/>
          </a:xfrm>
          <a:prstGeom prst="rect">
            <a:avLst/>
          </a:prstGeom>
          <a:noFill/>
          <a:ln/>
        </p:spPr>
        <p:txBody>
          <a:bodyPr wrap="square" lIns="0" tIns="0" rIns="0" bIns="0" rtlCol="0" anchor="ctr"/>
          <a:lstStyle/>
          <a:p>
            <a:pPr indent="0" marL="0">
              <a:buNone/>
            </a:pPr>
            <a:r>
              <a:rPr lang="en-US" sz="2800" b="1" dirty="0">
                <a:solidFill>
                  <a:srgbClr val="BAFC00"/>
                </a:solidFill>
                <a:latin typeface="Inter" pitchFamily="34" charset="0"/>
                <a:ea typeface="Inter" pitchFamily="34" charset="-122"/>
                <a:cs typeface="Inter" pitchFamily="34" charset="-120"/>
              </a:rPr>
              <a:t>100%</a:t>
            </a:r>
            <a:endParaRPr lang="en-US" sz="2800" dirty="0"/>
          </a:p>
        </p:txBody>
      </p:sp>
      <p:sp>
        <p:nvSpPr>
          <p:cNvPr id="17" name="Text 15"/>
          <p:cNvSpPr/>
          <p:nvPr/>
        </p:nvSpPr>
        <p:spPr>
          <a:xfrm>
            <a:off x="2423160" y="3520440"/>
            <a:ext cx="1828800" cy="274320"/>
          </a:xfrm>
          <a:prstGeom prst="rect">
            <a:avLst/>
          </a:prstGeom>
          <a:noFill/>
          <a:ln/>
        </p:spPr>
        <p:txBody>
          <a:bodyPr wrap="square" lIns="0" tIns="0" rIns="0" bIns="0" rtlCol="0" anchor="ctr"/>
          <a:lstStyle/>
          <a:p>
            <a:pPr indent="0" marL="0">
              <a:buNone/>
            </a:pPr>
            <a:r>
              <a:rPr lang="en-US" sz="1300" b="1" dirty="0">
                <a:solidFill>
                  <a:srgbClr val="FAFAFA"/>
                </a:solidFill>
                <a:latin typeface="Inter" pitchFamily="34" charset="0"/>
                <a:ea typeface="Inter" pitchFamily="34" charset="-122"/>
                <a:cs typeface="Inter" pitchFamily="34" charset="-120"/>
              </a:rPr>
              <a:t>engineering team shipped</a:t>
            </a:r>
            <a:endParaRPr lang="en-US" sz="1300" dirty="0"/>
          </a:p>
        </p:txBody>
      </p:sp>
      <p:sp>
        <p:nvSpPr>
          <p:cNvPr id="18" name="Text 16"/>
          <p:cNvSpPr/>
          <p:nvPr/>
        </p:nvSpPr>
        <p:spPr>
          <a:xfrm>
            <a:off x="2423160" y="3840480"/>
            <a:ext cx="1828800" cy="502920"/>
          </a:xfrm>
          <a:prstGeom prst="rect">
            <a:avLst/>
          </a:prstGeom>
          <a:noFill/>
          <a:ln/>
        </p:spPr>
        <p:txBody>
          <a:bodyPr wrap="square" lIns="0" tIns="0" rIns="0" bIns="0" rtlCol="0" anchor="ctr"/>
          <a:lstStyle/>
          <a:p>
            <a:pPr indent="0" marL="0">
              <a:lnSpc>
                <a:spcPct val="130000"/>
              </a:lnSpc>
              <a:buNone/>
            </a:pPr>
            <a:r>
              <a:rPr lang="en-US" sz="1050" dirty="0">
                <a:solidFill>
                  <a:srgbClr val="8B8B92"/>
                </a:solidFill>
                <a:latin typeface="Inter" pitchFamily="34" charset="0"/>
                <a:ea typeface="Inter" pitchFamily="34" charset="-122"/>
                <a:cs typeface="Inter" pitchFamily="34" charset="-120"/>
              </a:rPr>
              <a:t>Pratik (CEO), Chan (CTO), Tejas (CDO)</a:t>
            </a:r>
            <a:endParaRPr lang="en-US" sz="1050" dirty="0"/>
          </a:p>
        </p:txBody>
      </p:sp>
      <p:sp>
        <p:nvSpPr>
          <p:cNvPr id="19" name="Shape 17"/>
          <p:cNvSpPr/>
          <p:nvPr/>
        </p:nvSpPr>
        <p:spPr>
          <a:xfrm>
            <a:off x="4754880" y="3337560"/>
            <a:ext cx="3931920" cy="1097280"/>
          </a:xfrm>
          <a:prstGeom prst="rect">
            <a:avLst/>
          </a:prstGeom>
          <a:solidFill>
            <a:srgbClr val="141416"/>
          </a:solidFill>
          <a:ln w="9525">
            <a:solidFill>
              <a:srgbClr val="26262A"/>
            </a:solidFill>
            <a:prstDash val="solid"/>
          </a:ln>
        </p:spPr>
        <p:txBody>
          <a:bodyPr/>
          <a:p/>
        </p:txBody>
      </p:sp>
      <p:sp>
        <p:nvSpPr>
          <p:cNvPr id="20" name="Shape 18"/>
          <p:cNvSpPr/>
          <p:nvPr/>
        </p:nvSpPr>
        <p:spPr>
          <a:xfrm>
            <a:off x="4754880" y="3337560"/>
            <a:ext cx="73152" cy="1097280"/>
          </a:xfrm>
          <a:prstGeom prst="rect">
            <a:avLst/>
          </a:prstGeom>
          <a:solidFill>
            <a:srgbClr val="BAFC00"/>
          </a:solidFill>
          <a:ln w="12700">
            <a:solidFill>
              <a:srgbClr val="BAFC00"/>
            </a:solidFill>
            <a:prstDash val="solid"/>
          </a:ln>
        </p:spPr>
        <p:txBody>
          <a:bodyPr/>
          <a:p/>
        </p:txBody>
      </p:sp>
      <p:sp>
        <p:nvSpPr>
          <p:cNvPr id="21" name="Text 19"/>
          <p:cNvSpPr/>
          <p:nvPr/>
        </p:nvSpPr>
        <p:spPr>
          <a:xfrm>
            <a:off x="5029200" y="3474720"/>
            <a:ext cx="1691640" cy="594360"/>
          </a:xfrm>
          <a:prstGeom prst="rect">
            <a:avLst/>
          </a:prstGeom>
          <a:noFill/>
          <a:ln/>
        </p:spPr>
        <p:txBody>
          <a:bodyPr wrap="square" lIns="0" tIns="0" rIns="0" bIns="0" rtlCol="0" anchor="ctr"/>
          <a:lstStyle/>
          <a:p>
            <a:pPr indent="0" marL="0">
              <a:buNone/>
            </a:pPr>
            <a:r>
              <a:rPr lang="en-US" sz="3600" b="1" dirty="0">
                <a:solidFill>
                  <a:srgbClr val="BAFC00"/>
                </a:solidFill>
                <a:latin typeface="Inter" pitchFamily="34" charset="0"/>
                <a:ea typeface="Inter" pitchFamily="34" charset="-122"/>
                <a:cs typeface="Inter" pitchFamily="34" charset="-120"/>
              </a:rPr>
              <a:t>Q1</a:t>
            </a:r>
            <a:endParaRPr lang="en-US" sz="3600" dirty="0"/>
          </a:p>
        </p:txBody>
      </p:sp>
      <p:sp>
        <p:nvSpPr>
          <p:cNvPr id="22" name="Text 20"/>
          <p:cNvSpPr/>
          <p:nvPr/>
        </p:nvSpPr>
        <p:spPr>
          <a:xfrm>
            <a:off x="6720840" y="3520440"/>
            <a:ext cx="1828800" cy="274320"/>
          </a:xfrm>
          <a:prstGeom prst="rect">
            <a:avLst/>
          </a:prstGeom>
          <a:noFill/>
          <a:ln/>
        </p:spPr>
        <p:txBody>
          <a:bodyPr wrap="square" lIns="0" tIns="0" rIns="0" bIns="0" rtlCol="0" anchor="ctr"/>
          <a:lstStyle/>
          <a:p>
            <a:pPr indent="0" marL="0">
              <a:buNone/>
            </a:pPr>
            <a:r>
              <a:rPr lang="en-US" sz="1300" b="1" dirty="0">
                <a:solidFill>
                  <a:srgbClr val="FAFAFA"/>
                </a:solidFill>
                <a:latin typeface="Inter" pitchFamily="34" charset="0"/>
                <a:ea typeface="Inter" pitchFamily="34" charset="-122"/>
                <a:cs typeface="Inter" pitchFamily="34" charset="-120"/>
              </a:rPr>
              <a:t>first paying pilot</a:t>
            </a:r>
            <a:endParaRPr lang="en-US" sz="1300" dirty="0"/>
          </a:p>
        </p:txBody>
      </p:sp>
      <p:sp>
        <p:nvSpPr>
          <p:cNvPr id="23" name="Text 21"/>
          <p:cNvSpPr/>
          <p:nvPr/>
        </p:nvSpPr>
        <p:spPr>
          <a:xfrm>
            <a:off x="6720840" y="3840480"/>
            <a:ext cx="1828800" cy="502920"/>
          </a:xfrm>
          <a:prstGeom prst="rect">
            <a:avLst/>
          </a:prstGeom>
          <a:noFill/>
          <a:ln/>
        </p:spPr>
        <p:txBody>
          <a:bodyPr wrap="square" lIns="0" tIns="0" rIns="0" bIns="0" rtlCol="0" anchor="ctr"/>
          <a:lstStyle/>
          <a:p>
            <a:pPr indent="0" marL="0">
              <a:lnSpc>
                <a:spcPct val="130000"/>
              </a:lnSpc>
              <a:buNone/>
            </a:pPr>
            <a:r>
              <a:rPr lang="en-US" sz="1050" dirty="0">
                <a:solidFill>
                  <a:srgbClr val="8B8B92"/>
                </a:solidFill>
                <a:latin typeface="Inter" pitchFamily="34" charset="0"/>
                <a:ea typeface="Inter" pitchFamily="34" charset="-122"/>
                <a:cs typeface="Inter" pitchFamily="34" charset="-120"/>
              </a:rPr>
              <a:t>Target close: Month 4 of pre-seed</a:t>
            </a:r>
            <a:endParaRPr lang="en-US" sz="1050" dirty="0"/>
          </a:p>
        </p:txBody>
      </p:sp>
      <p:sp>
        <p:nvSpPr>
          <p:cNvPr id="24" name="Text 22"/>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11</a:t>
            </a:r>
            <a:endParaRPr lang="en-US" sz="900" dirty="0"/>
          </a:p>
        </p:txBody>
      </p:sp>
      <p:sp>
        <p:nvSpPr>
          <p:cNvPr id="25" name="Text 23"/>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TRACTION</a:t>
            </a:r>
            <a:endParaRPr lang="en-US" sz="900" dirty="0"/>
          </a:p>
        </p:txBody>
      </p:sp>
      <p:sp>
        <p:nvSpPr>
          <p:cNvPr id="26" name="Text 24"/>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09 · ROADMAP</a:t>
            </a:r>
            <a:endParaRPr lang="en-US" sz="1000" dirty="0"/>
          </a:p>
        </p:txBody>
      </p:sp>
      <p:sp>
        <p:nvSpPr>
          <p:cNvPr id="3" name="Text 1"/>
          <p:cNvSpPr/>
          <p:nvPr/>
        </p:nvSpPr>
        <p:spPr>
          <a:xfrm>
            <a:off x="457200" y="822960"/>
            <a:ext cx="8229600" cy="731520"/>
          </a:xfrm>
          <a:prstGeom prst="rect">
            <a:avLst/>
          </a:prstGeom>
          <a:noFill/>
          <a:ln/>
        </p:spPr>
        <p:txBody>
          <a:bodyPr wrap="square" lIns="0" tIns="0" rIns="0" bIns="0" rtlCol="0" anchor="ctr"/>
          <a:lstStyle/>
          <a:p>
            <a:pPr indent="0" marL="0">
              <a:buNone/>
            </a:pPr>
            <a:r>
              <a:rPr lang="en-US" sz="4000" b="1" dirty="0">
                <a:solidFill>
                  <a:srgbClr val="FAFAFA"/>
                </a:solidFill>
                <a:latin typeface="Inter" pitchFamily="34" charset="0"/>
                <a:ea typeface="Inter" pitchFamily="34" charset="-122"/>
                <a:cs typeface="Inter" pitchFamily="34" charset="-120"/>
              </a:rPr>
              <a:t>12 months to revenue.</a:t>
            </a:r>
            <a:endParaRPr lang="en-US" sz="4000" dirty="0"/>
          </a:p>
        </p:txBody>
      </p:sp>
      <p:sp>
        <p:nvSpPr>
          <p:cNvPr id="4" name="Text 2"/>
          <p:cNvSpPr/>
          <p:nvPr/>
        </p:nvSpPr>
        <p:spPr>
          <a:xfrm>
            <a:off x="457200" y="2377440"/>
            <a:ext cx="201168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TODAY</a:t>
            </a:r>
            <a:endParaRPr lang="en-US" sz="1000" dirty="0"/>
          </a:p>
        </p:txBody>
      </p:sp>
      <p:sp>
        <p:nvSpPr>
          <p:cNvPr id="5" name="Shape 3"/>
          <p:cNvSpPr/>
          <p:nvPr/>
        </p:nvSpPr>
        <p:spPr>
          <a:xfrm>
            <a:off x="457200" y="2788920"/>
            <a:ext cx="164592" cy="164592"/>
          </a:xfrm>
          <a:prstGeom prst="ellipse">
            <a:avLst/>
          </a:prstGeom>
          <a:solidFill>
            <a:srgbClr val="BAFC00"/>
          </a:solidFill>
          <a:ln w="12700">
            <a:solidFill>
              <a:srgbClr val="BAFC00"/>
            </a:solidFill>
            <a:prstDash val="solid"/>
          </a:ln>
        </p:spPr>
      </p:sp>
      <p:sp>
        <p:nvSpPr>
          <p:cNvPr id="6" name="Shape 4"/>
          <p:cNvSpPr/>
          <p:nvPr/>
        </p:nvSpPr>
        <p:spPr>
          <a:xfrm>
            <a:off x="621792" y="2871216"/>
            <a:ext cx="1965960" cy="0"/>
          </a:xfrm>
          <a:prstGeom prst="line">
            <a:avLst/>
          </a:prstGeom>
          <a:noFill/>
          <a:ln w="19050">
            <a:solidFill>
              <a:srgbClr val="26262A"/>
            </a:solidFill>
            <a:prstDash val="solid"/>
          </a:ln>
        </p:spPr>
      </p:sp>
      <p:sp>
        <p:nvSpPr>
          <p:cNvPr id="7" name="Text 5"/>
          <p:cNvSpPr/>
          <p:nvPr/>
        </p:nvSpPr>
        <p:spPr>
          <a:xfrm>
            <a:off x="457200" y="3108960"/>
            <a:ext cx="2011680" cy="320040"/>
          </a:xfrm>
          <a:prstGeom prst="rect">
            <a:avLst/>
          </a:prstGeom>
          <a:noFill/>
          <a:ln/>
        </p:spPr>
        <p:txBody>
          <a:bodyPr wrap="square" lIns="0" tIns="0" rIns="0" bIns="0" rtlCol="0" anchor="ctr"/>
          <a:lstStyle/>
          <a:p>
            <a:pPr indent="0" marL="0">
              <a:buNone/>
            </a:pPr>
            <a:r>
              <a:rPr lang="en-US" sz="1600" b="1" dirty="0">
                <a:solidFill>
                  <a:srgbClr val="FAFAFA"/>
                </a:solidFill>
                <a:latin typeface="Inter" pitchFamily="34" charset="0"/>
                <a:ea typeface="Inter" pitchFamily="34" charset="-122"/>
                <a:cs typeface="Inter" pitchFamily="34" charset="-120"/>
              </a:rPr>
              <a:t>Runtime live</a:t>
            </a:r>
            <a:endParaRPr lang="en-US" sz="1600" dirty="0"/>
          </a:p>
        </p:txBody>
      </p:sp>
      <p:sp>
        <p:nvSpPr>
          <p:cNvPr id="8" name="Text 6"/>
          <p:cNvSpPr/>
          <p:nvPr/>
        </p:nvSpPr>
        <p:spPr>
          <a:xfrm>
            <a:off x="457200" y="3474720"/>
            <a:ext cx="1920240" cy="82296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v1 shipped. 3 design partners actively integrating.</a:t>
            </a:r>
            <a:endParaRPr lang="en-US" sz="1100" dirty="0"/>
          </a:p>
        </p:txBody>
      </p:sp>
      <p:sp>
        <p:nvSpPr>
          <p:cNvPr id="9" name="Text 7"/>
          <p:cNvSpPr/>
          <p:nvPr/>
        </p:nvSpPr>
        <p:spPr>
          <a:xfrm>
            <a:off x="2587752" y="2377440"/>
            <a:ext cx="201168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MONTH 3</a:t>
            </a:r>
            <a:endParaRPr lang="en-US" sz="1000" dirty="0"/>
          </a:p>
        </p:txBody>
      </p:sp>
      <p:sp>
        <p:nvSpPr>
          <p:cNvPr id="10" name="Shape 8"/>
          <p:cNvSpPr/>
          <p:nvPr/>
        </p:nvSpPr>
        <p:spPr>
          <a:xfrm>
            <a:off x="2587752" y="2788920"/>
            <a:ext cx="164592" cy="164592"/>
          </a:xfrm>
          <a:prstGeom prst="ellipse">
            <a:avLst/>
          </a:prstGeom>
          <a:solidFill>
            <a:srgbClr val="BAFC00"/>
          </a:solidFill>
          <a:ln w="12700">
            <a:solidFill>
              <a:srgbClr val="BAFC00"/>
            </a:solidFill>
            <a:prstDash val="solid"/>
          </a:ln>
        </p:spPr>
      </p:sp>
      <p:sp>
        <p:nvSpPr>
          <p:cNvPr id="11" name="Shape 9"/>
          <p:cNvSpPr/>
          <p:nvPr/>
        </p:nvSpPr>
        <p:spPr>
          <a:xfrm>
            <a:off x="2752344" y="2871216"/>
            <a:ext cx="1965960" cy="0"/>
          </a:xfrm>
          <a:prstGeom prst="line">
            <a:avLst/>
          </a:prstGeom>
          <a:noFill/>
          <a:ln w="19050">
            <a:solidFill>
              <a:srgbClr val="26262A"/>
            </a:solidFill>
            <a:prstDash val="solid"/>
          </a:ln>
        </p:spPr>
      </p:sp>
      <p:sp>
        <p:nvSpPr>
          <p:cNvPr id="12" name="Text 10"/>
          <p:cNvSpPr/>
          <p:nvPr/>
        </p:nvSpPr>
        <p:spPr>
          <a:xfrm>
            <a:off x="2587752" y="3108960"/>
            <a:ext cx="2011680" cy="320040"/>
          </a:xfrm>
          <a:prstGeom prst="rect">
            <a:avLst/>
          </a:prstGeom>
          <a:noFill/>
          <a:ln/>
        </p:spPr>
        <p:txBody>
          <a:bodyPr wrap="square" lIns="0" tIns="0" rIns="0" bIns="0" rtlCol="0" anchor="ctr"/>
          <a:lstStyle/>
          <a:p>
            <a:pPr indent="0" marL="0">
              <a:buNone/>
            </a:pPr>
            <a:r>
              <a:rPr lang="en-US" sz="1600" b="1" dirty="0">
                <a:solidFill>
                  <a:srgbClr val="FAFAFA"/>
                </a:solidFill>
                <a:latin typeface="Inter" pitchFamily="34" charset="0"/>
                <a:ea typeface="Inter" pitchFamily="34" charset="-122"/>
                <a:cs typeface="Inter" pitchFamily="34" charset="-120"/>
              </a:rPr>
              <a:t>Pilots in production</a:t>
            </a:r>
            <a:endParaRPr lang="en-US" sz="1600" dirty="0"/>
          </a:p>
        </p:txBody>
      </p:sp>
      <p:sp>
        <p:nvSpPr>
          <p:cNvPr id="13" name="Text 11"/>
          <p:cNvSpPr/>
          <p:nvPr/>
        </p:nvSpPr>
        <p:spPr>
          <a:xfrm>
            <a:off x="2587752" y="3474720"/>
            <a:ext cx="1920240" cy="82296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First user-facing agents at 3–5 pilot companies.</a:t>
            </a:r>
            <a:endParaRPr lang="en-US" sz="1100" dirty="0"/>
          </a:p>
        </p:txBody>
      </p:sp>
      <p:sp>
        <p:nvSpPr>
          <p:cNvPr id="14" name="Text 12"/>
          <p:cNvSpPr/>
          <p:nvPr/>
        </p:nvSpPr>
        <p:spPr>
          <a:xfrm>
            <a:off x="4718304" y="2377440"/>
            <a:ext cx="201168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MONTH 6</a:t>
            </a:r>
            <a:endParaRPr lang="en-US" sz="1000" dirty="0"/>
          </a:p>
        </p:txBody>
      </p:sp>
      <p:sp>
        <p:nvSpPr>
          <p:cNvPr id="15" name="Shape 13"/>
          <p:cNvSpPr/>
          <p:nvPr/>
        </p:nvSpPr>
        <p:spPr>
          <a:xfrm>
            <a:off x="4718304" y="2788920"/>
            <a:ext cx="164592" cy="164592"/>
          </a:xfrm>
          <a:prstGeom prst="ellipse">
            <a:avLst/>
          </a:prstGeom>
          <a:solidFill>
            <a:srgbClr val="BAFC00"/>
          </a:solidFill>
          <a:ln w="12700">
            <a:solidFill>
              <a:srgbClr val="BAFC00"/>
            </a:solidFill>
            <a:prstDash val="solid"/>
          </a:ln>
        </p:spPr>
      </p:sp>
      <p:sp>
        <p:nvSpPr>
          <p:cNvPr id="16" name="Shape 14"/>
          <p:cNvSpPr/>
          <p:nvPr/>
        </p:nvSpPr>
        <p:spPr>
          <a:xfrm>
            <a:off x="4882896" y="2871216"/>
            <a:ext cx="1965960" cy="0"/>
          </a:xfrm>
          <a:prstGeom prst="line">
            <a:avLst/>
          </a:prstGeom>
          <a:noFill/>
          <a:ln w="19050">
            <a:solidFill>
              <a:srgbClr val="26262A"/>
            </a:solidFill>
            <a:prstDash val="solid"/>
          </a:ln>
        </p:spPr>
      </p:sp>
      <p:sp>
        <p:nvSpPr>
          <p:cNvPr id="17" name="Text 15"/>
          <p:cNvSpPr/>
          <p:nvPr/>
        </p:nvSpPr>
        <p:spPr>
          <a:xfrm>
            <a:off x="4718304" y="3108960"/>
            <a:ext cx="2011680" cy="320040"/>
          </a:xfrm>
          <a:prstGeom prst="rect">
            <a:avLst/>
          </a:prstGeom>
          <a:noFill/>
          <a:ln/>
        </p:spPr>
        <p:txBody>
          <a:bodyPr wrap="square" lIns="0" tIns="0" rIns="0" bIns="0" rtlCol="0" anchor="ctr"/>
          <a:lstStyle/>
          <a:p>
            <a:pPr indent="0" marL="0">
              <a:buNone/>
            </a:pPr>
            <a:r>
              <a:rPr lang="en-US" sz="1600" b="1" dirty="0">
                <a:solidFill>
                  <a:srgbClr val="FAFAFA"/>
                </a:solidFill>
                <a:latin typeface="Inter" pitchFamily="34" charset="0"/>
                <a:ea typeface="Inter" pitchFamily="34" charset="-122"/>
                <a:cs typeface="Inter" pitchFamily="34" charset="-120"/>
              </a:rPr>
              <a:t>Compliance complete</a:t>
            </a:r>
            <a:endParaRPr lang="en-US" sz="1600" dirty="0"/>
          </a:p>
        </p:txBody>
      </p:sp>
      <p:sp>
        <p:nvSpPr>
          <p:cNvPr id="18" name="Text 16"/>
          <p:cNvSpPr/>
          <p:nvPr/>
        </p:nvSpPr>
        <p:spPr>
          <a:xfrm>
            <a:off x="4718304" y="3474720"/>
            <a:ext cx="1920240" cy="82296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Full HITL, SIEM export, SOC 2 Type 1 in progress.</a:t>
            </a:r>
            <a:endParaRPr lang="en-US" sz="1100" dirty="0"/>
          </a:p>
        </p:txBody>
      </p:sp>
      <p:sp>
        <p:nvSpPr>
          <p:cNvPr id="19" name="Text 17"/>
          <p:cNvSpPr/>
          <p:nvPr/>
        </p:nvSpPr>
        <p:spPr>
          <a:xfrm>
            <a:off x="6848856" y="2377440"/>
            <a:ext cx="201168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MONTH 12</a:t>
            </a:r>
            <a:endParaRPr lang="en-US" sz="1000" dirty="0"/>
          </a:p>
        </p:txBody>
      </p:sp>
      <p:sp>
        <p:nvSpPr>
          <p:cNvPr id="20" name="Shape 18"/>
          <p:cNvSpPr/>
          <p:nvPr/>
        </p:nvSpPr>
        <p:spPr>
          <a:xfrm>
            <a:off x="6848856" y="2788920"/>
            <a:ext cx="164592" cy="164592"/>
          </a:xfrm>
          <a:prstGeom prst="ellipse">
            <a:avLst/>
          </a:prstGeom>
          <a:solidFill>
            <a:srgbClr val="BAFC00"/>
          </a:solidFill>
          <a:ln w="12700">
            <a:solidFill>
              <a:srgbClr val="BAFC00"/>
            </a:solidFill>
            <a:prstDash val="solid"/>
          </a:ln>
        </p:spPr>
      </p:sp>
      <p:sp>
        <p:nvSpPr>
          <p:cNvPr id="21" name="Text 19"/>
          <p:cNvSpPr/>
          <p:nvPr/>
        </p:nvSpPr>
        <p:spPr>
          <a:xfrm>
            <a:off x="6848856" y="3108960"/>
            <a:ext cx="2011680" cy="320040"/>
          </a:xfrm>
          <a:prstGeom prst="rect">
            <a:avLst/>
          </a:prstGeom>
          <a:noFill/>
          <a:ln/>
        </p:spPr>
        <p:txBody>
          <a:bodyPr wrap="square" lIns="0" tIns="0" rIns="0" bIns="0" rtlCol="0" anchor="ctr"/>
          <a:lstStyle/>
          <a:p>
            <a:pPr indent="0" marL="0">
              <a:buNone/>
            </a:pPr>
            <a:r>
              <a:rPr lang="en-US" sz="1600" b="1" dirty="0">
                <a:solidFill>
                  <a:srgbClr val="FAFAFA"/>
                </a:solidFill>
                <a:latin typeface="Inter" pitchFamily="34" charset="0"/>
                <a:ea typeface="Inter" pitchFamily="34" charset="-122"/>
                <a:cs typeface="Inter" pitchFamily="34" charset="-120"/>
              </a:rPr>
              <a:t>$1M ARR</a:t>
            </a:r>
            <a:endParaRPr lang="en-US" sz="1600" dirty="0"/>
          </a:p>
        </p:txBody>
      </p:sp>
      <p:sp>
        <p:nvSpPr>
          <p:cNvPr id="22" name="Text 20"/>
          <p:cNvSpPr/>
          <p:nvPr/>
        </p:nvSpPr>
        <p:spPr>
          <a:xfrm>
            <a:off x="6848856" y="3474720"/>
            <a:ext cx="1920240" cy="82296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10+ paying customers. Marketplace launched.</a:t>
            </a:r>
            <a:endParaRPr lang="en-US" sz="1100" dirty="0"/>
          </a:p>
        </p:txBody>
      </p:sp>
      <p:sp>
        <p:nvSpPr>
          <p:cNvPr id="23" name="Text 21"/>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10</a:t>
            </a:r>
            <a:endParaRPr lang="en-US" sz="900" dirty="0"/>
          </a:p>
        </p:txBody>
      </p:sp>
      <p:sp>
        <p:nvSpPr>
          <p:cNvPr id="24" name="Text 22"/>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ROADMAP</a:t>
            </a:r>
            <a:endParaRPr lang="en-US" sz="900" dirty="0"/>
          </a:p>
        </p:txBody>
      </p:sp>
      <p:sp>
        <p:nvSpPr>
          <p:cNvPr id="25" name="Text 23"/>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12 · TEAM</a:t>
            </a:r>
            <a:endParaRPr lang="en-US" sz="1000" dirty="0"/>
          </a:p>
        </p:txBody>
      </p:sp>
      <p:sp>
        <p:nvSpPr>
          <p:cNvPr id="3" name="Text 1"/>
          <p:cNvSpPr/>
          <p:nvPr/>
        </p:nvSpPr>
        <p:spPr>
          <a:xfrm>
            <a:off x="457200" y="822960"/>
            <a:ext cx="8229600" cy="731520"/>
          </a:xfrm>
          <a:prstGeom prst="rect">
            <a:avLst/>
          </a:prstGeom>
          <a:noFill/>
          <a:ln/>
        </p:spPr>
        <p:txBody>
          <a:bodyPr wrap="square" lIns="0" tIns="0" rIns="0" bIns="0" rtlCol="0" anchor="ctr"/>
          <a:lstStyle/>
          <a:p>
            <a:pPr indent="0" marL="0">
              <a:buNone/>
            </a:pPr>
            <a:r>
              <a:rPr lang="en-US" sz="4000" b="1" dirty="0">
                <a:solidFill>
                  <a:srgbClr val="FAFAFA"/>
                </a:solidFill>
                <a:latin typeface="Inter" pitchFamily="34" charset="0"/>
                <a:ea typeface="Inter" pitchFamily="34" charset="-122"/>
                <a:cs typeface="Inter" pitchFamily="34" charset="-120"/>
              </a:rPr>
              <a:t>Built for this.</a:t>
            </a:r>
            <a:endParaRPr lang="en-US" sz="4000" dirty="0"/>
          </a:p>
        </p:txBody>
      </p:sp>
      <p:sp>
        <p:nvSpPr>
          <p:cNvPr id="4" name="Shape 2"/>
          <p:cNvSpPr/>
          <p:nvPr/>
        </p:nvSpPr>
        <p:spPr>
          <a:xfrm>
            <a:off x="457200" y="2194560"/>
            <a:ext cx="2743200" cy="2103120"/>
          </a:xfrm>
          <a:prstGeom prst="rect">
            <a:avLst/>
          </a:prstGeom>
          <a:solidFill>
            <a:srgbClr val="141416"/>
          </a:solidFill>
          <a:ln w="9525">
            <a:solidFill>
              <a:srgbClr val="26262A"/>
            </a:solidFill>
            <a:prstDash val="solid"/>
          </a:ln>
        </p:spPr>
        <p:txBody>
          <a:bodyPr/>
          <a:p/>
        </p:txBody>
      </p:sp>
      <p:sp>
        <p:nvSpPr>
          <p:cNvPr id="5" name="Text 3"/>
          <p:cNvSpPr/>
          <p:nvPr/>
        </p:nvSpPr>
        <p:spPr>
          <a:xfrm>
            <a:off x="685800" y="2423160"/>
            <a:ext cx="2286000" cy="411480"/>
          </a:xfrm>
          <a:prstGeom prst="rect">
            <a:avLst/>
          </a:prstGeom>
          <a:noFill/>
          <a:ln/>
        </p:spPr>
        <p:txBody>
          <a:bodyPr wrap="square" lIns="0" tIns="0" rIns="0" bIns="0" rtlCol="0" anchor="ctr"/>
          <a:lstStyle/>
          <a:p>
            <a:pPr indent="0" marL="0">
              <a:buNone/>
            </a:pPr>
            <a:r>
              <a:rPr lang="en-US" sz="2200" b="1" dirty="0">
                <a:solidFill>
                  <a:srgbClr val="FAFAFA"/>
                </a:solidFill>
                <a:latin typeface="Inter" pitchFamily="34" charset="0"/>
                <a:ea typeface="Inter" pitchFamily="34" charset="-122"/>
                <a:cs typeface="Inter" pitchFamily="34" charset="-120"/>
              </a:rPr>
              <a:t>Pratik</a:t>
            </a:r>
            <a:endParaRPr lang="en-US" sz="2200" dirty="0"/>
          </a:p>
        </p:txBody>
      </p:sp>
      <p:sp>
        <p:nvSpPr>
          <p:cNvPr id="6" name="Text 4"/>
          <p:cNvSpPr/>
          <p:nvPr/>
        </p:nvSpPr>
        <p:spPr>
          <a:xfrm>
            <a:off x="685800" y="2880360"/>
            <a:ext cx="2286000" cy="274320"/>
          </a:xfrm>
          <a:prstGeom prst="rect">
            <a:avLst/>
          </a:prstGeom>
          <a:noFill/>
          <a:ln/>
        </p:spPr>
        <p:txBody>
          <a:bodyPr wrap="square" lIns="0" tIns="0" rIns="0" bIns="0" rtlCol="0" anchor="ctr"/>
          <a:lstStyle/>
          <a:p>
            <a:pPr indent="0" marL="0">
              <a:buNone/>
            </a:pPr>
            <a:r>
              <a:rPr lang="en-US" sz="1100" b="1" spc="300" kern="0" dirty="0">
                <a:solidFill>
                  <a:srgbClr val="BAFC00"/>
                </a:solidFill>
                <a:latin typeface="Inter" pitchFamily="34" charset="0"/>
                <a:ea typeface="Inter" pitchFamily="34" charset="-122"/>
                <a:cs typeface="Inter" pitchFamily="34" charset="-120"/>
              </a:rPr>
              <a:t>CEO</a:t>
            </a:r>
            <a:endParaRPr lang="en-US" sz="1100" dirty="0"/>
          </a:p>
        </p:txBody>
      </p:sp>
      <p:sp>
        <p:nvSpPr>
          <p:cNvPr id="7" name="Text 5"/>
          <p:cNvSpPr/>
          <p:nvPr/>
        </p:nvSpPr>
        <p:spPr>
          <a:xfrm>
            <a:off x="685800" y="3246120"/>
            <a:ext cx="2286000" cy="100584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Stablecoin merchant infra at Levitate Labs. Built first version of Inflection. Closed Maersk, WeWork, GE.</a:t>
            </a:r>
            <a:endParaRPr lang="en-US" sz="1100" dirty="0"/>
          </a:p>
        </p:txBody>
      </p:sp>
      <p:sp>
        <p:nvSpPr>
          <p:cNvPr id="8" name="Shape 6"/>
          <p:cNvSpPr/>
          <p:nvPr/>
        </p:nvSpPr>
        <p:spPr>
          <a:xfrm>
            <a:off x="3246120" y="2194560"/>
            <a:ext cx="2743200" cy="2103120"/>
          </a:xfrm>
          <a:prstGeom prst="rect">
            <a:avLst/>
          </a:prstGeom>
          <a:solidFill>
            <a:srgbClr val="141416"/>
          </a:solidFill>
          <a:ln w="9525">
            <a:solidFill>
              <a:srgbClr val="26262A"/>
            </a:solidFill>
            <a:prstDash val="solid"/>
          </a:ln>
        </p:spPr>
        <p:txBody>
          <a:bodyPr/>
          <a:p/>
        </p:txBody>
      </p:sp>
      <p:sp>
        <p:nvSpPr>
          <p:cNvPr id="9" name="Text 7"/>
          <p:cNvSpPr/>
          <p:nvPr/>
        </p:nvSpPr>
        <p:spPr>
          <a:xfrm>
            <a:off x="3474720" y="2423160"/>
            <a:ext cx="2286000" cy="411480"/>
          </a:xfrm>
          <a:prstGeom prst="rect">
            <a:avLst/>
          </a:prstGeom>
          <a:noFill/>
          <a:ln/>
        </p:spPr>
        <p:txBody>
          <a:bodyPr wrap="square" lIns="0" tIns="0" rIns="0" bIns="0" rtlCol="0" anchor="ctr"/>
          <a:lstStyle/>
          <a:p>
            <a:pPr indent="0" marL="0">
              <a:buNone/>
            </a:pPr>
            <a:r>
              <a:rPr lang="en-US" sz="2200" b="1" dirty="0">
                <a:solidFill>
                  <a:srgbClr val="FAFAFA"/>
                </a:solidFill>
                <a:latin typeface="Inter" pitchFamily="34" charset="0"/>
                <a:ea typeface="Inter" pitchFamily="34" charset="-122"/>
                <a:cs typeface="Inter" pitchFamily="34" charset="-120"/>
              </a:rPr>
              <a:t>Chan</a:t>
            </a:r>
            <a:endParaRPr lang="en-US" sz="2200" dirty="0"/>
          </a:p>
        </p:txBody>
      </p:sp>
      <p:sp>
        <p:nvSpPr>
          <p:cNvPr id="10" name="Text 8"/>
          <p:cNvSpPr/>
          <p:nvPr/>
        </p:nvSpPr>
        <p:spPr>
          <a:xfrm>
            <a:off x="3474720" y="2880360"/>
            <a:ext cx="2286000" cy="274320"/>
          </a:xfrm>
          <a:prstGeom prst="rect">
            <a:avLst/>
          </a:prstGeom>
          <a:noFill/>
          <a:ln/>
        </p:spPr>
        <p:txBody>
          <a:bodyPr wrap="square" lIns="0" tIns="0" rIns="0" bIns="0" rtlCol="0" anchor="ctr"/>
          <a:lstStyle/>
          <a:p>
            <a:pPr indent="0" marL="0">
              <a:buNone/>
            </a:pPr>
            <a:r>
              <a:rPr lang="en-US" sz="1100" b="1" spc="300" kern="0" dirty="0">
                <a:solidFill>
                  <a:srgbClr val="BAFC00"/>
                </a:solidFill>
                <a:latin typeface="Inter" pitchFamily="34" charset="0"/>
                <a:ea typeface="Inter" pitchFamily="34" charset="-122"/>
                <a:cs typeface="Inter" pitchFamily="34" charset="-120"/>
              </a:rPr>
              <a:t>CTO</a:t>
            </a:r>
            <a:endParaRPr lang="en-US" sz="1100" dirty="0"/>
          </a:p>
        </p:txBody>
      </p:sp>
      <p:sp>
        <p:nvSpPr>
          <p:cNvPr id="11" name="Text 9"/>
          <p:cNvSpPr/>
          <p:nvPr/>
        </p:nvSpPr>
        <p:spPr>
          <a:xfrm>
            <a:off x="3474720" y="3246120"/>
            <a:ext cx="2286000" cy="100584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Backend engineer · 4yr. Built Inflection's on-chain layer and policy engine. Maintains Arrakis (open-source security scanner).</a:t>
            </a:r>
            <a:endParaRPr lang="en-US" sz="1100" dirty="0"/>
          </a:p>
        </p:txBody>
      </p:sp>
      <p:sp>
        <p:nvSpPr>
          <p:cNvPr id="12" name="Shape 10"/>
          <p:cNvSpPr/>
          <p:nvPr/>
        </p:nvSpPr>
        <p:spPr>
          <a:xfrm>
            <a:off x="6035040" y="2194560"/>
            <a:ext cx="2743200" cy="2103120"/>
          </a:xfrm>
          <a:prstGeom prst="rect">
            <a:avLst/>
          </a:prstGeom>
          <a:solidFill>
            <a:srgbClr val="141416"/>
          </a:solidFill>
          <a:ln w="9525">
            <a:solidFill>
              <a:srgbClr val="26262A"/>
            </a:solidFill>
            <a:prstDash val="solid"/>
          </a:ln>
        </p:spPr>
        <p:txBody>
          <a:bodyPr/>
          <a:p/>
        </p:txBody>
      </p:sp>
      <p:sp>
        <p:nvSpPr>
          <p:cNvPr id="13" name="Text 11"/>
          <p:cNvSpPr/>
          <p:nvPr/>
        </p:nvSpPr>
        <p:spPr>
          <a:xfrm>
            <a:off x="6263640" y="2423160"/>
            <a:ext cx="2286000" cy="411480"/>
          </a:xfrm>
          <a:prstGeom prst="rect">
            <a:avLst/>
          </a:prstGeom>
          <a:noFill/>
          <a:ln/>
        </p:spPr>
        <p:txBody>
          <a:bodyPr wrap="square" lIns="0" tIns="0" rIns="0" bIns="0" rtlCol="0" anchor="ctr"/>
          <a:lstStyle/>
          <a:p>
            <a:pPr indent="0" marL="0">
              <a:buNone/>
            </a:pPr>
            <a:r>
              <a:rPr lang="en-US" sz="2200" b="1" dirty="0">
                <a:solidFill>
                  <a:srgbClr val="FAFAFA"/>
                </a:solidFill>
                <a:latin typeface="Inter" pitchFamily="34" charset="0"/>
                <a:ea typeface="Inter" pitchFamily="34" charset="-122"/>
                <a:cs typeface="Inter" pitchFamily="34" charset="-120"/>
              </a:rPr>
              <a:t>Tejas</a:t>
            </a:r>
            <a:endParaRPr lang="en-US" sz="2200" dirty="0"/>
          </a:p>
        </p:txBody>
      </p:sp>
      <p:sp>
        <p:nvSpPr>
          <p:cNvPr id="14" name="Text 12"/>
          <p:cNvSpPr/>
          <p:nvPr/>
        </p:nvSpPr>
        <p:spPr>
          <a:xfrm>
            <a:off x="6263640" y="2880360"/>
            <a:ext cx="2286000" cy="274320"/>
          </a:xfrm>
          <a:prstGeom prst="rect">
            <a:avLst/>
          </a:prstGeom>
          <a:noFill/>
          <a:ln/>
        </p:spPr>
        <p:txBody>
          <a:bodyPr wrap="square" lIns="0" tIns="0" rIns="0" bIns="0" rtlCol="0" anchor="ctr"/>
          <a:lstStyle/>
          <a:p>
            <a:pPr indent="0" marL="0">
              <a:buNone/>
            </a:pPr>
            <a:r>
              <a:rPr lang="en-US" sz="1100" b="1" spc="300" kern="0" dirty="0">
                <a:solidFill>
                  <a:srgbClr val="BAFC00"/>
                </a:solidFill>
                <a:latin typeface="Inter" pitchFamily="34" charset="0"/>
                <a:ea typeface="Inter" pitchFamily="34" charset="-122"/>
                <a:cs typeface="Inter" pitchFamily="34" charset="-120"/>
              </a:rPr>
              <a:t>CDO</a:t>
            </a:r>
            <a:endParaRPr lang="en-US" sz="1100" dirty="0"/>
          </a:p>
        </p:txBody>
      </p:sp>
      <p:sp>
        <p:nvSpPr>
          <p:cNvPr id="15" name="Text 13"/>
          <p:cNvSpPr/>
          <p:nvPr/>
        </p:nvSpPr>
        <p:spPr>
          <a:xfrm>
            <a:off x="6263640" y="3246120"/>
            <a:ext cx="2286000" cy="100584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Design + product. Shipped Inflection's developer experience, SDK, and white-labeled chat UI from scratch.</a:t>
            </a:r>
            <a:endParaRPr lang="en-US" sz="1100" dirty="0"/>
          </a:p>
        </p:txBody>
      </p:sp>
      <p:sp>
        <p:nvSpPr>
          <p:cNvPr id="16" name="Text 14"/>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13</a:t>
            </a:r>
            <a:endParaRPr lang="en-US" sz="900" dirty="0"/>
          </a:p>
        </p:txBody>
      </p:sp>
      <p:sp>
        <p:nvSpPr>
          <p:cNvPr id="17" name="Text 15"/>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TEAM</a:t>
            </a:r>
            <a:endParaRPr lang="en-US" sz="900" dirty="0"/>
          </a:p>
        </p:txBody>
      </p:sp>
      <p:sp>
        <p:nvSpPr>
          <p:cNvPr id="18" name="Text 16"/>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11 · THE ASK</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indent="0" marL="0">
              <a:lnSpc>
                <a:spcPct val="110000"/>
              </a:lnSpc>
              <a:buNone/>
            </a:pPr>
            <a:r>
              <a:rPr lang="en-US" sz="4800" b="1" dirty="0">
                <a:solidFill>
                  <a:srgbClr val="FAFAFA"/>
                </a:solidFill>
                <a:latin typeface="Inter" pitchFamily="34" charset="0"/>
                <a:ea typeface="Inter" pitchFamily="34" charset="-122"/>
                <a:cs typeface="Inter" pitchFamily="34" charset="-120"/>
              </a:rPr>
              <a:t>Raising $1.5M</a:t>
            </a:r>
            <a:endParaRPr lang="en-US" sz="4800" dirty="0"/>
          </a:p>
          <a:p>
            <a:pPr indent="0" marL="0">
              <a:lnSpc>
                <a:spcPct val="110000"/>
              </a:lnSpc>
              <a:buNone/>
            </a:pPr>
            <a:r>
              <a:rPr lang="en-US" sz="4800" b="1" dirty="0">
                <a:solidFill>
                  <a:srgbClr val="FAFAFA"/>
                </a:solidFill>
                <a:latin typeface="Inter" pitchFamily="34" charset="0"/>
                <a:ea typeface="Inter" pitchFamily="34" charset="-122"/>
                <a:cs typeface="Inter" pitchFamily="34" charset="-120"/>
              </a:rPr>
              <a:t>pre-seed.</a:t>
            </a:r>
            <a:endParaRPr lang="en-US" sz="4800" dirty="0"/>
          </a:p>
        </p:txBody>
      </p:sp>
      <p:sp>
        <p:nvSpPr>
          <p:cNvPr id="4" name="Text 2"/>
          <p:cNvSpPr/>
          <p:nvPr/>
        </p:nvSpPr>
        <p:spPr>
          <a:xfrm>
            <a:off x="457200" y="2560320"/>
            <a:ext cx="8229600" cy="274320"/>
          </a:xfrm>
          <a:prstGeom prst="rect">
            <a:avLst/>
          </a:prstGeom>
          <a:noFill/>
          <a:ln/>
        </p:spPr>
        <p:txBody>
          <a:bodyPr wrap="square" lIns="0" tIns="0" rIns="0" bIns="0" rtlCol="0" anchor="ctr"/>
          <a:lstStyle/>
          <a:p>
            <a:pPr indent="0" marL="0">
              <a:buNone/>
            </a:pPr>
            <a:r>
              <a:rPr lang="en-US" sz="1000" b="1" spc="300" kern="0" dirty="0">
                <a:solidFill>
                  <a:srgbClr val="5A5A60"/>
                </a:solidFill>
                <a:latin typeface="Inter" pitchFamily="34" charset="0"/>
                <a:ea typeface="Inter" pitchFamily="34" charset="-122"/>
                <a:cs typeface="Inter" pitchFamily="34" charset="-120"/>
              </a:rPr>
              <a:t>USE OF FUNDS + MILESTONES · 18 MONTH RUNWAY</a:t>
            </a:r>
            <a:endParaRPr lang="en-US" sz="1000" dirty="0"/>
          </a:p>
        </p:txBody>
      </p:sp>
      <p:sp>
        <p:nvSpPr>
          <p:cNvPr id="5" name="Shape 3"/>
          <p:cNvSpPr/>
          <p:nvPr/>
        </p:nvSpPr>
        <p:spPr>
          <a:xfrm>
            <a:off x="457200" y="3017520"/>
            <a:ext cx="2743200" cy="1371600"/>
          </a:xfrm>
          <a:prstGeom prst="rect">
            <a:avLst/>
          </a:prstGeom>
          <a:solidFill>
            <a:srgbClr val="141416"/>
          </a:solidFill>
          <a:ln w="9525">
            <a:solidFill>
              <a:srgbClr val="26262A"/>
            </a:solidFill>
            <a:prstDash val="solid"/>
          </a:ln>
        </p:spPr>
        <p:txBody>
          <a:bodyPr/>
          <a:p/>
        </p:txBody>
      </p:sp>
      <p:sp>
        <p:nvSpPr>
          <p:cNvPr id="6" name="Text 4"/>
          <p:cNvSpPr/>
          <p:nvPr/>
        </p:nvSpPr>
        <p:spPr>
          <a:xfrm>
            <a:off x="685800" y="3154680"/>
            <a:ext cx="2286000" cy="548640"/>
          </a:xfrm>
          <a:prstGeom prst="rect">
            <a:avLst/>
          </a:prstGeom>
          <a:noFill/>
          <a:ln/>
        </p:spPr>
        <p:txBody>
          <a:bodyPr wrap="square" lIns="0" tIns="0" rIns="0" bIns="0" rtlCol="0" anchor="ctr"/>
          <a:lstStyle/>
          <a:p>
            <a:pPr indent="0" marL="0">
              <a:buNone/>
            </a:pPr>
            <a:r>
              <a:rPr lang="en-US" sz="3800" b="1" dirty="0">
                <a:solidFill>
                  <a:srgbClr val="BAFC00"/>
                </a:solidFill>
                <a:latin typeface="Inter" pitchFamily="34" charset="0"/>
                <a:ea typeface="Inter" pitchFamily="34" charset="-122"/>
                <a:cs typeface="Inter" pitchFamily="34" charset="-120"/>
              </a:rPr>
              <a:t>55%</a:t>
            </a:r>
            <a:endParaRPr lang="en-US" sz="3800" dirty="0"/>
          </a:p>
        </p:txBody>
      </p:sp>
      <p:sp>
        <p:nvSpPr>
          <p:cNvPr id="7" name="Text 5"/>
          <p:cNvSpPr/>
          <p:nvPr/>
        </p:nvSpPr>
        <p:spPr>
          <a:xfrm>
            <a:off x="685800" y="3730752"/>
            <a:ext cx="2286000" cy="274320"/>
          </a:xfrm>
          <a:prstGeom prst="rect">
            <a:avLst/>
          </a:prstGeom>
          <a:noFill/>
          <a:ln/>
        </p:spPr>
        <p:txBody>
          <a:bodyPr wrap="square" lIns="0" tIns="0" rIns="0" bIns="0" rtlCol="0" anchor="ctr"/>
          <a:lstStyle/>
          <a:p>
            <a:pPr indent="0" marL="0">
              <a:buNone/>
            </a:pPr>
            <a:r>
              <a:rPr lang="en-US" sz="1400" b="1" dirty="0">
                <a:solidFill>
                  <a:srgbClr val="FAFAFA"/>
                </a:solidFill>
                <a:latin typeface="Inter" pitchFamily="34" charset="0"/>
                <a:ea typeface="Inter" pitchFamily="34" charset="-122"/>
                <a:cs typeface="Inter" pitchFamily="34" charset="-120"/>
              </a:rPr>
              <a:t>Engineering  →  Month 3: Pilots live</a:t>
            </a:r>
            <a:endParaRPr lang="en-US" sz="1400" dirty="0"/>
          </a:p>
        </p:txBody>
      </p:sp>
      <p:sp>
        <p:nvSpPr>
          <p:cNvPr id="8" name="Text 6"/>
          <p:cNvSpPr/>
          <p:nvPr/>
        </p:nvSpPr>
        <p:spPr>
          <a:xfrm>
            <a:off x="685800" y="4005072"/>
            <a:ext cx="2286000" cy="365760"/>
          </a:xfrm>
          <a:prstGeom prst="rect">
            <a:avLst/>
          </a:prstGeom>
          <a:noFill/>
          <a:ln/>
        </p:spPr>
        <p:txBody>
          <a:bodyPr wrap="square" lIns="0" tIns="0" rIns="0" bIns="0" rtlCol="0" anchor="ctr"/>
          <a:lstStyle/>
          <a:p>
            <a:pPr indent="0" marL="0">
              <a:buNone/>
            </a:pPr>
            <a:r>
              <a:rPr lang="en-US" sz="1050" dirty="0">
                <a:solidFill>
                  <a:srgbClr val="8B8B92"/>
                </a:solidFill>
                <a:latin typeface="Inter" pitchFamily="34" charset="0"/>
                <a:ea typeface="Inter" pitchFamily="34" charset="-122"/>
                <a:cs typeface="Inter" pitchFamily="34" charset="-120"/>
              </a:rPr>
              <a:t>2 senior backend, 1 frontend, 1 DevSecOps. First user-facing agents at 3–5 pilots.</a:t>
            </a:r>
            <a:endParaRPr lang="en-US" sz="1050" dirty="0"/>
          </a:p>
        </p:txBody>
      </p:sp>
      <p:sp>
        <p:nvSpPr>
          <p:cNvPr id="9" name="Shape 7"/>
          <p:cNvSpPr/>
          <p:nvPr/>
        </p:nvSpPr>
        <p:spPr>
          <a:xfrm>
            <a:off x="3246120" y="3017520"/>
            <a:ext cx="2743200" cy="1371600"/>
          </a:xfrm>
          <a:prstGeom prst="rect">
            <a:avLst/>
          </a:prstGeom>
          <a:solidFill>
            <a:srgbClr val="141416"/>
          </a:solidFill>
          <a:ln w="9525">
            <a:solidFill>
              <a:srgbClr val="26262A"/>
            </a:solidFill>
            <a:prstDash val="solid"/>
          </a:ln>
        </p:spPr>
        <p:txBody>
          <a:bodyPr/>
          <a:p/>
        </p:txBody>
      </p:sp>
      <p:sp>
        <p:nvSpPr>
          <p:cNvPr id="10" name="Text 8"/>
          <p:cNvSpPr/>
          <p:nvPr/>
        </p:nvSpPr>
        <p:spPr>
          <a:xfrm>
            <a:off x="3474720" y="3154680"/>
            <a:ext cx="2286000" cy="548640"/>
          </a:xfrm>
          <a:prstGeom prst="rect">
            <a:avLst/>
          </a:prstGeom>
          <a:noFill/>
          <a:ln/>
        </p:spPr>
        <p:txBody>
          <a:bodyPr wrap="square" lIns="0" tIns="0" rIns="0" bIns="0" rtlCol="0" anchor="ctr"/>
          <a:lstStyle/>
          <a:p>
            <a:pPr indent="0" marL="0">
              <a:buNone/>
            </a:pPr>
            <a:r>
              <a:rPr lang="en-US" sz="3800" b="1" dirty="0">
                <a:solidFill>
                  <a:srgbClr val="BAFC00"/>
                </a:solidFill>
                <a:latin typeface="Inter" pitchFamily="34" charset="0"/>
                <a:ea typeface="Inter" pitchFamily="34" charset="-122"/>
                <a:cs typeface="Inter" pitchFamily="34" charset="-120"/>
              </a:rPr>
              <a:t>25%</a:t>
            </a:r>
            <a:endParaRPr lang="en-US" sz="3800" dirty="0"/>
          </a:p>
        </p:txBody>
      </p:sp>
      <p:sp>
        <p:nvSpPr>
          <p:cNvPr id="11" name="Text 9"/>
          <p:cNvSpPr/>
          <p:nvPr/>
        </p:nvSpPr>
        <p:spPr>
          <a:xfrm>
            <a:off x="3474720" y="3730752"/>
            <a:ext cx="2286000" cy="274320"/>
          </a:xfrm>
          <a:prstGeom prst="rect">
            <a:avLst/>
          </a:prstGeom>
          <a:noFill/>
          <a:ln/>
        </p:spPr>
        <p:txBody>
          <a:bodyPr wrap="square" lIns="0" tIns="0" rIns="0" bIns="0" rtlCol="0" anchor="ctr"/>
          <a:lstStyle/>
          <a:p>
            <a:pPr indent="0" marL="0">
              <a:buNone/>
            </a:pPr>
            <a:r>
              <a:rPr lang="en-US" sz="1400" b="1" dirty="0">
                <a:solidFill>
                  <a:srgbClr val="FAFAFA"/>
                </a:solidFill>
                <a:latin typeface="Inter" pitchFamily="34" charset="0"/>
                <a:ea typeface="Inter" pitchFamily="34" charset="-122"/>
                <a:cs typeface="Inter" pitchFamily="34" charset="-120"/>
              </a:rPr>
              <a:t>Go-to-market  →  Month 6: Revenue</a:t>
            </a:r>
            <a:endParaRPr lang="en-US" sz="1400" dirty="0"/>
          </a:p>
        </p:txBody>
      </p:sp>
      <p:sp>
        <p:nvSpPr>
          <p:cNvPr id="12" name="Text 10"/>
          <p:cNvSpPr/>
          <p:nvPr/>
        </p:nvSpPr>
        <p:spPr>
          <a:xfrm>
            <a:off x="3474720" y="4005072"/>
            <a:ext cx="2286000" cy="365760"/>
          </a:xfrm>
          <a:prstGeom prst="rect">
            <a:avLst/>
          </a:prstGeom>
          <a:noFill/>
          <a:ln/>
        </p:spPr>
        <p:txBody>
          <a:bodyPr wrap="square" lIns="0" tIns="0" rIns="0" bIns="0" rtlCol="0" anchor="ctr"/>
          <a:lstStyle/>
          <a:p>
            <a:pPr indent="0" marL="0">
              <a:buNone/>
            </a:pPr>
            <a:r>
              <a:rPr lang="en-US" sz="1050" dirty="0">
                <a:solidFill>
                  <a:srgbClr val="8B8B92"/>
                </a:solidFill>
                <a:latin typeface="Inter" pitchFamily="34" charset="0"/>
                <a:ea typeface="Inter" pitchFamily="34" charset="-122"/>
                <a:cs typeface="Inter" pitchFamily="34" charset="-120"/>
              </a:rPr>
              <a:t>First sales hire, 5 pilot conversions. Full compliance suite. First paying contracts.</a:t>
            </a:r>
            <a:endParaRPr lang="en-US" sz="1050" dirty="0"/>
          </a:p>
        </p:txBody>
      </p:sp>
      <p:sp>
        <p:nvSpPr>
          <p:cNvPr id="13" name="Shape 11"/>
          <p:cNvSpPr/>
          <p:nvPr/>
        </p:nvSpPr>
        <p:spPr>
          <a:xfrm>
            <a:off x="6035040" y="3017520"/>
            <a:ext cx="2743200" cy="1371600"/>
          </a:xfrm>
          <a:prstGeom prst="rect">
            <a:avLst/>
          </a:prstGeom>
          <a:solidFill>
            <a:srgbClr val="141416"/>
          </a:solidFill>
          <a:ln w="9525">
            <a:solidFill>
              <a:srgbClr val="26262A"/>
            </a:solidFill>
            <a:prstDash val="solid"/>
          </a:ln>
        </p:spPr>
        <p:txBody>
          <a:bodyPr/>
          <a:p/>
        </p:txBody>
      </p:sp>
      <p:sp>
        <p:nvSpPr>
          <p:cNvPr id="14" name="Text 12"/>
          <p:cNvSpPr/>
          <p:nvPr/>
        </p:nvSpPr>
        <p:spPr>
          <a:xfrm>
            <a:off x="6263640" y="3154680"/>
            <a:ext cx="2286000" cy="548640"/>
          </a:xfrm>
          <a:prstGeom prst="rect">
            <a:avLst/>
          </a:prstGeom>
          <a:noFill/>
          <a:ln/>
        </p:spPr>
        <p:txBody>
          <a:bodyPr wrap="square" lIns="0" tIns="0" rIns="0" bIns="0" rtlCol="0" anchor="ctr"/>
          <a:lstStyle/>
          <a:p>
            <a:pPr indent="0" marL="0">
              <a:buNone/>
            </a:pPr>
            <a:r>
              <a:rPr lang="en-US" sz="3800" b="1" dirty="0">
                <a:solidFill>
                  <a:srgbClr val="BAFC00"/>
                </a:solidFill>
                <a:latin typeface="Inter" pitchFamily="34" charset="0"/>
                <a:ea typeface="Inter" pitchFamily="34" charset="-122"/>
                <a:cs typeface="Inter" pitchFamily="34" charset="-120"/>
              </a:rPr>
              <a:t>20%</a:t>
            </a:r>
            <a:endParaRPr lang="en-US" sz="3800" dirty="0"/>
          </a:p>
        </p:txBody>
      </p:sp>
      <p:sp>
        <p:nvSpPr>
          <p:cNvPr id="15" name="Text 13"/>
          <p:cNvSpPr/>
          <p:nvPr/>
        </p:nvSpPr>
        <p:spPr>
          <a:xfrm>
            <a:off x="6263640" y="3730752"/>
            <a:ext cx="2286000" cy="274320"/>
          </a:xfrm>
          <a:prstGeom prst="rect">
            <a:avLst/>
          </a:prstGeom>
          <a:noFill/>
          <a:ln/>
        </p:spPr>
        <p:txBody>
          <a:bodyPr wrap="square" lIns="0" tIns="0" rIns="0" bIns="0" rtlCol="0" anchor="ctr"/>
          <a:lstStyle/>
          <a:p>
            <a:pPr indent="0" marL="0">
              <a:buNone/>
            </a:pPr>
            <a:r>
              <a:rPr lang="en-US" sz="1400" b="1" dirty="0">
                <a:solidFill>
                  <a:srgbClr val="FAFAFA"/>
                </a:solidFill>
                <a:latin typeface="Inter" pitchFamily="34" charset="0"/>
                <a:ea typeface="Inter" pitchFamily="34" charset="-122"/>
                <a:cs typeface="Inter" pitchFamily="34" charset="-120"/>
              </a:rPr>
              <a:t>Compliance + ops  →  Month 12: $1M ARR</a:t>
            </a:r>
            <a:endParaRPr lang="en-US" sz="1400" dirty="0"/>
          </a:p>
        </p:txBody>
      </p:sp>
      <p:sp>
        <p:nvSpPr>
          <p:cNvPr id="16" name="Text 14"/>
          <p:cNvSpPr/>
          <p:nvPr/>
        </p:nvSpPr>
        <p:spPr>
          <a:xfrm>
            <a:off x="6263640" y="4005072"/>
            <a:ext cx="2286000" cy="365760"/>
          </a:xfrm>
          <a:prstGeom prst="rect">
            <a:avLst/>
          </a:prstGeom>
          <a:noFill/>
          <a:ln/>
        </p:spPr>
        <p:txBody>
          <a:bodyPr wrap="square" lIns="0" tIns="0" rIns="0" bIns="0" rtlCol="0" anchor="ctr"/>
          <a:lstStyle/>
          <a:p>
            <a:pPr indent="0" marL="0">
              <a:buNone/>
            </a:pPr>
            <a:r>
              <a:rPr lang="en-US" sz="1050" dirty="0">
                <a:solidFill>
                  <a:srgbClr val="8B8B92"/>
                </a:solidFill>
                <a:latin typeface="Inter" pitchFamily="34" charset="0"/>
                <a:ea typeface="Inter" pitchFamily="34" charset="-122"/>
                <a:cs typeface="Inter" pitchFamily="34" charset="-120"/>
              </a:rPr>
              <a:t>SOC 2 Type 1, legal, infra. 10+ customers. Marketplace launched.</a:t>
            </a:r>
            <a:endParaRPr lang="en-US" sz="1050" dirty="0"/>
          </a:p>
        </p:txBody>
      </p:sp>
      <p:sp>
        <p:nvSpPr>
          <p:cNvPr id="17" name="Text 15"/>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12</a:t>
            </a:r>
            <a:endParaRPr lang="en-US" sz="900" dirty="0"/>
          </a:p>
        </p:txBody>
      </p:sp>
      <p:sp>
        <p:nvSpPr>
          <p:cNvPr id="18" name="Text 16"/>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ASK</a:t>
            </a:r>
            <a:endParaRPr lang="en-US" sz="900" dirty="0"/>
          </a:p>
        </p:txBody>
      </p:sp>
      <p:sp>
        <p:nvSpPr>
          <p:cNvPr id="19" name="Text 17"/>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457200" y="1188720"/>
            <a:ext cx="8229600" cy="2377440"/>
          </a:xfrm>
          <a:prstGeom prst="rect">
            <a:avLst/>
          </a:prstGeom>
          <a:noFill/>
          <a:ln/>
        </p:spPr>
        <p:txBody>
          <a:bodyPr wrap="square" lIns="0" tIns="0" rIns="0" bIns="0" rtlCol="0" anchor="ctr"/>
          <a:lstStyle/>
          <a:p>
            <a:pPr indent="0" marL="0">
              <a:lnSpc>
                <a:spcPct val="105000"/>
              </a:lnSpc>
              <a:buNone/>
            </a:pPr>
            <a:r>
              <a:rPr lang="en-US" sz="5600" b="1" dirty="0">
                <a:solidFill>
                  <a:srgbClr val="FAFAFA"/>
                </a:solidFill>
                <a:latin typeface="Inter" pitchFamily="34" charset="0"/>
                <a:ea typeface="Inter" pitchFamily="34" charset="-122"/>
                <a:cs typeface="Inter" pitchFamily="34" charset="-120"/>
              </a:rPr>
              <a:t>The window</a:t>
            </a:r>
            <a:endParaRPr lang="en-US" sz="5600" dirty="0"/>
          </a:p>
          <a:p>
            <a:pPr indent="0" marL="0">
              <a:lnSpc>
                <a:spcPct val="105000"/>
              </a:lnSpc>
              <a:buNone/>
            </a:pPr>
            <a:r>
              <a:rPr lang="en-US" sz="5600" b="1" dirty="0">
                <a:solidFill>
                  <a:srgbClr val="FAFAFA"/>
                </a:solidFill>
                <a:latin typeface="Inter" pitchFamily="34" charset="0"/>
                <a:ea typeface="Inter" pitchFamily="34" charset="-122"/>
                <a:cs typeface="Inter" pitchFamily="34" charset="-120"/>
              </a:rPr>
              <a:t>opens once.</a:t>
            </a:r>
            <a:endParaRPr lang="en-US" sz="5600" dirty="0"/>
          </a:p>
        </p:txBody>
      </p:sp>
      <p:sp>
        <p:nvSpPr>
          <p:cNvPr id="3" name="Shape 1"/>
          <p:cNvSpPr/>
          <p:nvPr/>
        </p:nvSpPr>
        <p:spPr>
          <a:xfrm>
            <a:off x="457200" y="3749040"/>
            <a:ext cx="1371600" cy="0"/>
          </a:xfrm>
          <a:prstGeom prst="line">
            <a:avLst/>
          </a:prstGeom>
          <a:noFill/>
          <a:ln w="38100">
            <a:solidFill>
              <a:srgbClr val="BAFC00"/>
            </a:solidFill>
            <a:prstDash val="solid"/>
          </a:ln>
        </p:spPr>
      </p:sp>
      <p:sp>
        <p:nvSpPr>
          <p:cNvPr id="4" name="Text 2"/>
          <p:cNvSpPr/>
          <p:nvPr/>
        </p:nvSpPr>
        <p:spPr>
          <a:xfrm>
            <a:off x="457200" y="3931920"/>
            <a:ext cx="8229600" cy="365760"/>
          </a:xfrm>
          <a:prstGeom prst="rect">
            <a:avLst/>
          </a:prstGeom>
          <a:noFill/>
          <a:ln/>
        </p:spPr>
        <p:txBody>
          <a:bodyPr wrap="square" lIns="0" tIns="0" rIns="0" bIns="0" rtlCol="0" anchor="ctr"/>
          <a:lstStyle/>
          <a:p>
            <a:pPr indent="0" marL="0">
              <a:buNone/>
            </a:pPr>
            <a:r>
              <a:rPr lang="en-US" sz="1600" dirty="0">
                <a:solidFill>
                  <a:srgbClr val="8B8B92"/>
                </a:solidFill>
                <a:latin typeface="Inter" pitchFamily="34" charset="0"/>
                <a:ea typeface="Inter" pitchFamily="34" charset="-122"/>
                <a:cs typeface="Inter" pitchFamily="34" charset="-120"/>
              </a:rPr>
              <a:t>Let's build the runtime every regulated fintech runs on.</a:t>
            </a:r>
            <a:endParaRPr lang="en-US" sz="1600" dirty="0"/>
          </a:p>
        </p:txBody>
      </p:sp>
      <p:sp>
        <p:nvSpPr>
          <p:cNvPr id="5" name="Shape 3"/>
          <p:cNvSpPr/>
          <p:nvPr/>
        </p:nvSpPr>
        <p:spPr>
          <a:xfrm>
            <a:off x="457200" y="4663440"/>
            <a:ext cx="8229600" cy="0"/>
          </a:xfrm>
          <a:prstGeom prst="line">
            <a:avLst/>
          </a:prstGeom>
          <a:noFill/>
          <a:ln w="9525">
            <a:solidFill>
              <a:srgbClr val="26262A"/>
            </a:solidFill>
            <a:prstDash val="solid"/>
          </a:ln>
        </p:spPr>
      </p:sp>
      <p:sp>
        <p:nvSpPr>
          <p:cNvPr id="6" name="Text 4"/>
          <p:cNvSpPr/>
          <p:nvPr/>
        </p:nvSpPr>
        <p:spPr>
          <a:xfrm>
            <a:off x="457200" y="4800600"/>
            <a:ext cx="3657600" cy="274320"/>
          </a:xfrm>
          <a:prstGeom prst="rect">
            <a:avLst/>
          </a:prstGeom>
          <a:noFill/>
          <a:ln/>
        </p:spPr>
        <p:txBody>
          <a:bodyPr wrap="square" lIns="0" tIns="0" rIns="0" bIns="0" rtlCol="0" anchor="ctr"/>
          <a:lstStyle/>
          <a:p>
            <a:pPr indent="0" marL="0">
              <a:buNone/>
            </a:pPr>
            <a:r>
              <a:rPr lang="en-US" sz="1100" b="1" spc="200" kern="0" dirty="0">
                <a:solidFill>
                  <a:srgbClr val="BAFC00"/>
                </a:solidFill>
                <a:latin typeface="Inter" pitchFamily="34" charset="0"/>
                <a:ea typeface="Inter" pitchFamily="34" charset="-122"/>
                <a:cs typeface="Inter" pitchFamily="34" charset="-120"/>
              </a:rPr>
              <a:t>inflection.ai</a:t>
            </a:r>
            <a:endParaRPr lang="en-US" sz="1100" dirty="0"/>
          </a:p>
        </p:txBody>
      </p:sp>
      <p:sp>
        <p:nvSpPr>
          <p:cNvPr id="7" name="Text 5"/>
          <p:cNvSpPr/>
          <p:nvPr/>
        </p:nvSpPr>
        <p:spPr>
          <a:xfrm>
            <a:off x="5029200" y="4800600"/>
            <a:ext cx="3657600" cy="274320"/>
          </a:xfrm>
          <a:prstGeom prst="rect">
            <a:avLst/>
          </a:prstGeom>
          <a:noFill/>
          <a:ln/>
        </p:spPr>
        <p:txBody>
          <a:bodyPr wrap="square" lIns="0" tIns="0" rIns="0" bIns="0" rtlCol="0" anchor="ctr"/>
          <a:lstStyle/>
          <a:p>
            <a:pPr algn="r" indent="0" marL="0">
              <a:buNone/>
            </a:pPr>
            <a:r>
              <a:rPr lang="en-US" sz="1100" dirty="0">
                <a:solidFill>
                  <a:srgbClr val="8B8B92"/>
                </a:solidFill>
                <a:latin typeface="Inter" pitchFamily="34" charset="0"/>
                <a:ea typeface="Inter" pitchFamily="34" charset="-122"/>
                <a:cs typeface="Inter" pitchFamily="34" charset="-120"/>
              </a:rPr>
              <a:t>contact@inflection.ai</a:t>
            </a:r>
            <a:endParaRPr lang="en-US" sz="11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01 · MEET MAYA</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algn="l" indent="0" marL="0">
              <a:lnSpc>
                <a:spcPct val="110000"/>
              </a:lnSpc>
              <a:buNone/>
            </a:pPr>
            <a:r>
              <a:rPr lang="en-US" sz="4000" b="1" dirty="0">
                <a:solidFill>
                  <a:srgbClr val="FAFAFA"/>
                </a:solidFill>
                <a:latin typeface="Inter" pitchFamily="34" charset="0"/>
                <a:ea typeface="Inter" pitchFamily="34" charset="-122"/>
                <a:cs typeface="Inter" pitchFamily="34" charset="-120"/>
              </a:rPr>
              <a:t>She uses your neobank app.</a:t>
            </a:r>
            <a:endParaRPr lang="en-US" sz="4000" dirty="0"/>
          </a:p>
          <a:p>
            <a:pPr algn="l" indent="0" marL="0">
              <a:lnSpc>
                <a:spcPct val="110000"/>
              </a:lnSpc>
              <a:buNone/>
            </a:pPr>
            <a:r>
              <a:rPr lang="en-US" sz="4000" b="1" dirty="0">
                <a:solidFill>
                  <a:srgbClr val="FAFAFA"/>
                </a:solidFill>
                <a:latin typeface="Inter" pitchFamily="34" charset="0"/>
                <a:ea typeface="Inter" pitchFamily="34" charset="-122"/>
                <a:cs typeface="Inter" pitchFamily="34" charset="-120"/>
              </a:rPr>
              <a:t>She wants to talk to it.</a:t>
            </a:r>
            <a:endParaRPr lang="en-US" sz="4000" dirty="0"/>
          </a:p>
        </p:txBody>
      </p:sp>
      <p:sp>
        <p:nvSpPr>
          <p:cNvPr id="4" name="Text 2"/>
          <p:cNvSpPr/>
          <p:nvPr/>
        </p:nvSpPr>
        <p:spPr>
          <a:xfrm>
            <a:off x="457200" y="2468880"/>
            <a:ext cx="8229600" cy="548640"/>
          </a:xfrm>
          <a:prstGeom prst="rect">
            <a:avLst/>
          </a:prstGeom>
          <a:noFill/>
          <a:ln/>
        </p:spPr>
        <p:txBody>
          <a:bodyPr wrap="square" rtlCol="0" anchor="ctr"/>
          <a:lstStyle/>
          <a:p>
            <a:pPr indent="0" marL="0">
              <a:lnSpc>
                <a:spcPct val="140000"/>
              </a:lnSpc>
              <a:buNone/>
            </a:pPr>
            <a:r>
              <a:rPr lang="en-US" sz="1400" dirty="0">
                <a:solidFill>
                  <a:srgbClr val="8B8B92"/>
                </a:solidFill>
                <a:latin typeface="Inter" pitchFamily="34" charset="0"/>
                <a:ea typeface="Inter" pitchFamily="34" charset="-122"/>
                <a:cs typeface="Inter" pitchFamily="34" charset="-120"/>
              </a:rPr>
              <a:t>Maya checks her balance every morning. Three subscriptions she means to cancel. A savings goal she never quite hits. She doesn't want a dashboard. — one that moves money, books things, makes decisions — requires infrastructure most teams don't have:</a:t>
            </a:r>
            <a:endParaRPr lang="en-US" sz="1400" dirty="0"/>
          </a:p>
        </p:txBody>
      </p:sp>
      <p:sp>
        <p:nvSpPr>
          <p:cNvPr id="5" name="Shape 3"/>
          <p:cNvSpPr/>
          <p:nvPr/>
        </p:nvSpPr>
        <p:spPr>
          <a:xfrm>
            <a:off x="457200" y="3063240"/>
            <a:ext cx="3931920" cy="731520"/>
          </a:xfrm>
          <a:prstGeom prst="rect">
            <a:avLst/>
          </a:prstGeom>
          <a:solidFill>
            <a:srgbClr val="141416"/>
          </a:solidFill>
          <a:ln w="9525">
            <a:solidFill>
              <a:srgbClr val="26262A"/>
            </a:solidFill>
            <a:prstDash val="solid"/>
          </a:ln>
        </p:spPr>
        <p:txBody>
          <a:bodyPr/>
          <a:p/>
        </p:txBody>
      </p:sp>
      <p:sp>
        <p:nvSpPr>
          <p:cNvPr id="6" name="Text 4"/>
          <p:cNvSpPr/>
          <p:nvPr/>
        </p:nvSpPr>
        <p:spPr>
          <a:xfrm>
            <a:off x="640080" y="3172968"/>
            <a:ext cx="3566160" cy="274320"/>
          </a:xfrm>
          <a:prstGeom prst="rect">
            <a:avLst/>
          </a:prstGeom>
          <a:noFill/>
          <a:ln/>
        </p:spPr>
        <p:txBody>
          <a:bodyPr wrap="square" lIns="0" tIns="0" rIns="0" bIns="0" rtlCol="0" anchor="ctr"/>
          <a:lstStyle/>
          <a:p>
            <a:pPr algn="l" indent="0" marL="0">
              <a:buNone/>
            </a:pPr>
            <a:r>
              <a:rPr lang="en-US" sz="1300" b="1" dirty="0">
                <a:solidFill>
                  <a:srgbClr val="BAFC00"/>
                </a:solidFill>
                <a:latin typeface="Inter" pitchFamily="34" charset="0"/>
                <a:ea typeface="Inter" pitchFamily="34" charset="-122"/>
                <a:cs typeface="Inter" pitchFamily="34" charset="-120"/>
              </a:rPr>
              <a:t>She types:</a:t>
            </a:r>
            <a:endParaRPr lang="en-US" sz="1300" dirty="0"/>
          </a:p>
        </p:txBody>
      </p:sp>
      <p:sp>
        <p:nvSpPr>
          <p:cNvPr id="7" name="Text 5"/>
          <p:cNvSpPr/>
          <p:nvPr/>
        </p:nvSpPr>
        <p:spPr>
          <a:xfrm>
            <a:off x="640080" y="3447288"/>
            <a:ext cx="3566160" cy="365760"/>
          </a:xfrm>
          <a:prstGeom prst="rect">
            <a:avLst/>
          </a:prstGeom>
          <a:noFill/>
          <a:ln/>
        </p:spPr>
        <p:txBody>
          <a:bodyPr wrap="square" lIns="0" tIns="0" rIns="0" bIns="0" rtlCol="0" anchor="ctr"/>
          <a:lstStyle/>
          <a:p>
            <a:pPr algn="l" indent="0" marL="0">
              <a:buNone/>
            </a:pPr>
            <a:r>
              <a:rPr lang="en-US" sz="1100" dirty="0">
                <a:solidFill>
                  <a:srgbClr val="8B8B92"/>
                </a:solidFill>
                <a:latin typeface="Inter" pitchFamily="34" charset="0"/>
                <a:ea typeface="Inter" pitchFamily="34" charset="-122"/>
                <a:cs typeface="Inter" pitchFamily="34" charset="-120"/>
              </a:rPr>
              <a:t>"Cancel any subscription I haven't used in 30 days. Move that money to savings." live? Most teams store them wrong.</a:t>
            </a:r>
            <a:endParaRPr lang="en-US" sz="1100" dirty="0"/>
          </a:p>
        </p:txBody>
      </p:sp>
      <p:sp>
        <p:nvSpPr>
          <p:cNvPr id="8" name="Shape 6"/>
          <p:cNvSpPr/>
          <p:nvPr/>
        </p:nvSpPr>
        <p:spPr>
          <a:xfrm>
            <a:off x="4754880" y="3063240"/>
            <a:ext cx="3931920" cy="731520"/>
          </a:xfrm>
          <a:prstGeom prst="rect">
            <a:avLst/>
          </a:prstGeom>
          <a:solidFill>
            <a:srgbClr val="141416"/>
          </a:solidFill>
          <a:ln w="9525">
            <a:solidFill>
              <a:srgbClr val="26262A"/>
            </a:solidFill>
            <a:prstDash val="solid"/>
          </a:ln>
        </p:spPr>
        <p:txBody>
          <a:bodyPr/>
          <a:p/>
        </p:txBody>
      </p:sp>
      <p:sp>
        <p:nvSpPr>
          <p:cNvPr id="9" name="Text 7"/>
          <p:cNvSpPr/>
          <p:nvPr/>
        </p:nvSpPr>
        <p:spPr>
          <a:xfrm>
            <a:off x="4937760" y="3172968"/>
            <a:ext cx="3566160" cy="274320"/>
          </a:xfrm>
          <a:prstGeom prst="rect">
            <a:avLst/>
          </a:prstGeom>
          <a:noFill/>
          <a:ln/>
        </p:spPr>
        <p:txBody>
          <a:bodyPr wrap="square" lIns="0" tIns="0" rIns="0" bIns="0" rtlCol="0" anchor="ctr"/>
          <a:lstStyle/>
          <a:p>
            <a:pPr algn="l" indent="0" marL="0">
              <a:buNone/>
            </a:pPr>
            <a:r>
              <a:rPr lang="en-US" sz="1300" b="1" dirty="0">
                <a:solidFill>
                  <a:srgbClr val="BAFC00"/>
                </a:solidFill>
                <a:latin typeface="Inter" pitchFamily="34" charset="0"/>
                <a:ea typeface="Inter" pitchFamily="34" charset="-122"/>
                <a:cs typeface="Inter" pitchFamily="34" charset="-120"/>
              </a:rPr>
              <a:t>And have it done.</a:t>
            </a:r>
            <a:endParaRPr lang="en-US" sz="1300" dirty="0"/>
          </a:p>
        </p:txBody>
      </p:sp>
      <p:sp>
        <p:nvSpPr>
          <p:cNvPr id="10" name="Text 8"/>
          <p:cNvSpPr/>
          <p:nvPr/>
        </p:nvSpPr>
        <p:spPr>
          <a:xfrm>
            <a:off x="4937760" y="3447288"/>
            <a:ext cx="3566160" cy="365760"/>
          </a:xfrm>
          <a:prstGeom prst="rect">
            <a:avLst/>
          </a:prstGeom>
          <a:noFill/>
          <a:ln/>
        </p:spPr>
        <p:txBody>
          <a:bodyPr wrap="square" lIns="0" tIns="0" rIns="0" bIns="0" rtlCol="0" anchor="ctr"/>
          <a:lstStyle/>
          <a:p>
            <a:pPr algn="l" indent="0" marL="0">
              <a:buNone/>
            </a:pPr>
            <a:r>
              <a:rPr lang="en-US" sz="1100" dirty="0">
                <a:solidFill>
                  <a:srgbClr val="8B8B92"/>
                </a:solidFill>
                <a:latin typeface="Inter" pitchFamily="34" charset="0"/>
                <a:ea typeface="Inter" pitchFamily="34" charset="-122"/>
                <a:cs typeface="Inter" pitchFamily="34" charset="-120"/>
              </a:rPr>
              <a:t>Not a suggestion. Not a nudge. Just done.'t accept "we think it worked."</a:t>
            </a:r>
            <a:endParaRPr lang="en-US" sz="1100" dirty="0"/>
          </a:p>
        </p:txBody>
      </p:sp>
      <p:sp>
        <p:nvSpPr>
          <p:cNvPr id="11" name="Shape 9"/>
          <p:cNvSpPr/>
          <p:nvPr/>
        </p:nvSpPr>
        <p:spPr>
          <a:xfrm>
            <a:off x="457200" y="3931920"/>
            <a:ext cx="3931920" cy="731520"/>
          </a:xfrm>
          <a:prstGeom prst="rect">
            <a:avLst/>
          </a:prstGeom>
          <a:solidFill>
            <a:srgbClr val="141416"/>
          </a:solidFill>
          <a:ln w="9525">
            <a:solidFill>
              <a:srgbClr val="26262A"/>
            </a:solidFill>
            <a:prstDash val="solid"/>
          </a:ln>
        </p:spPr>
        <p:txBody>
          <a:bodyPr/>
          <a:p/>
        </p:txBody>
      </p:sp>
      <p:sp>
        <p:nvSpPr>
          <p:cNvPr id="12" name="Text 10"/>
          <p:cNvSpPr/>
          <p:nvPr/>
        </p:nvSpPr>
        <p:spPr>
          <a:xfrm>
            <a:off x="640080" y="4041648"/>
            <a:ext cx="3566160" cy="274320"/>
          </a:xfrm>
          <a:prstGeom prst="rect">
            <a:avLst/>
          </a:prstGeom>
          <a:noFill/>
          <a:ln/>
        </p:spPr>
        <p:txBody>
          <a:bodyPr wrap="square" lIns="0" tIns="0" rIns="0" bIns="0" rtlCol="0" anchor="ctr"/>
          <a:lstStyle/>
          <a:p>
            <a:pPr algn="l" indent="0" marL="0">
              <a:buNone/>
            </a:pPr>
            <a:r>
              <a:rPr lang="en-US" sz="1300" b="1" dirty="0">
                <a:solidFill>
                  <a:srgbClr val="BAFC00"/>
                </a:solidFill>
                <a:latin typeface="Inter" pitchFamily="34" charset="0"/>
                <a:ea typeface="Inter" pitchFamily="34" charset="-122"/>
                <a:cs typeface="Inter" pitchFamily="34" charset="-120"/>
              </a:rPr>
              <a:t>She's your power user.</a:t>
            </a:r>
            <a:endParaRPr lang="en-US" sz="1300" dirty="0"/>
          </a:p>
        </p:txBody>
      </p:sp>
      <p:sp>
        <p:nvSpPr>
          <p:cNvPr id="13" name="Text 11"/>
          <p:cNvSpPr/>
          <p:nvPr/>
        </p:nvSpPr>
        <p:spPr>
          <a:xfrm>
            <a:off x="640080" y="4315968"/>
            <a:ext cx="3566160" cy="365760"/>
          </a:xfrm>
          <a:prstGeom prst="rect">
            <a:avLst/>
          </a:prstGeom>
          <a:noFill/>
          <a:ln/>
        </p:spPr>
        <p:txBody>
          <a:bodyPr wrap="square" lIns="0" tIns="0" rIns="0" bIns="0" rtlCol="0" anchor="ctr"/>
          <a:lstStyle/>
          <a:p>
            <a:pPr algn="l" indent="0" marL="0">
              <a:buNone/>
            </a:pPr>
            <a:r>
              <a:rPr lang="en-US" sz="1100" dirty="0">
                <a:solidFill>
                  <a:srgbClr val="8B8B92"/>
                </a:solidFill>
                <a:latin typeface="Inter" pitchFamily="34" charset="0"/>
                <a:ea typeface="Inter" pitchFamily="34" charset="-122"/>
                <a:cs typeface="Inter" pitchFamily="34" charset="-120"/>
              </a:rPr>
              <a:t>And your biggest quiet churn risk. do? What needs human approval?</a:t>
            </a:r>
            <a:endParaRPr lang="en-US" sz="1100" dirty="0"/>
          </a:p>
        </p:txBody>
      </p:sp>
      <p:sp>
        <p:nvSpPr>
          <p:cNvPr id="14" name="Shape 12"/>
          <p:cNvSpPr/>
          <p:nvPr/>
        </p:nvSpPr>
        <p:spPr>
          <a:xfrm>
            <a:off x="4754880" y="3931920"/>
            <a:ext cx="3931920" cy="731520"/>
          </a:xfrm>
          <a:prstGeom prst="rect">
            <a:avLst/>
          </a:prstGeom>
          <a:solidFill>
            <a:srgbClr val="141416"/>
          </a:solidFill>
          <a:ln w="9525">
            <a:solidFill>
              <a:srgbClr val="26262A"/>
            </a:solidFill>
            <a:prstDash val="solid"/>
          </a:ln>
        </p:spPr>
        <p:txBody>
          <a:bodyPr/>
          <a:p/>
        </p:txBody>
      </p:sp>
      <p:sp>
        <p:nvSpPr>
          <p:cNvPr id="15" name="Text 13"/>
          <p:cNvSpPr/>
          <p:nvPr/>
        </p:nvSpPr>
        <p:spPr>
          <a:xfrm>
            <a:off x="4937760" y="4041648"/>
            <a:ext cx="3566160" cy="274320"/>
          </a:xfrm>
          <a:prstGeom prst="rect">
            <a:avLst/>
          </a:prstGeom>
          <a:noFill/>
          <a:ln/>
        </p:spPr>
        <p:txBody>
          <a:bodyPr wrap="square" lIns="0" tIns="0" rIns="0" bIns="0" rtlCol="0" anchor="ctr"/>
          <a:lstStyle/>
          <a:p>
            <a:pPr algn="l" indent="0" marL="0">
              <a:buNone/>
            </a:pPr>
            <a:r>
              <a:rPr lang="en-US" sz="1300" b="1" dirty="0">
                <a:solidFill>
                  <a:srgbClr val="BAFC00"/>
                </a:solidFill>
                <a:latin typeface="Inter" pitchFamily="34" charset="0"/>
                <a:ea typeface="Inter" pitchFamily="34" charset="-122"/>
                <a:cs typeface="Inter" pitchFamily="34" charset="-120"/>
              </a:rPr>
              <a:t>The moment a competitor ships an agent</a:t>
            </a:r>
            <a:endParaRPr lang="en-US" sz="1300" dirty="0"/>
          </a:p>
        </p:txBody>
      </p:sp>
      <p:sp>
        <p:nvSpPr>
          <p:cNvPr id="16" name="Text 14"/>
          <p:cNvSpPr/>
          <p:nvPr/>
        </p:nvSpPr>
        <p:spPr>
          <a:xfrm>
            <a:off x="4937760" y="4315968"/>
            <a:ext cx="3566160" cy="365760"/>
          </a:xfrm>
          <a:prstGeom prst="rect">
            <a:avLst/>
          </a:prstGeom>
          <a:noFill/>
          <a:ln/>
        </p:spPr>
        <p:txBody>
          <a:bodyPr wrap="square" lIns="0" tIns="0" rIns="0" bIns="0" rtlCol="0" anchor="ctr"/>
          <a:lstStyle/>
          <a:p>
            <a:pPr algn="l" indent="0" marL="0">
              <a:buNone/>
            </a:pPr>
            <a:r>
              <a:rPr lang="en-US" sz="1100" dirty="0">
                <a:solidFill>
                  <a:srgbClr val="8B8B92"/>
                </a:solidFill>
                <a:latin typeface="Inter" pitchFamily="34" charset="0"/>
                <a:ea typeface="Inter" pitchFamily="34" charset="-122"/>
                <a:cs typeface="Inter" pitchFamily="34" charset="-120"/>
              </a:rPr>
              <a:t>she'll know something is different.</a:t>
            </a:r>
            <a:endParaRPr lang="en-US" sz="1100" dirty="0"/>
          </a:p>
        </p:txBody>
      </p:sp>
      <p:sp>
        <p:nvSpPr>
          <p:cNvPr id="17" name="Text 15"/>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02</a:t>
            </a:r>
            <a:endParaRPr lang="en-US" sz="900" dirty="0"/>
          </a:p>
        </p:txBody>
      </p:sp>
      <p:sp>
        <p:nvSpPr>
          <p:cNvPr id="18" name="Text 16"/>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MEET MAYA</a:t>
            </a:r>
            <a:endParaRPr lang="en-US" sz="900" dirty="0"/>
          </a:p>
        </p:txBody>
      </p:sp>
      <p:sp>
        <p:nvSpPr>
          <p:cNvPr id="19" name="Text 17"/>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05 · THE ANALOGY</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indent="0" marL="0">
              <a:lnSpc>
                <a:spcPct val="110000"/>
              </a:lnSpc>
              <a:buNone/>
            </a:pPr>
            <a:r>
              <a:rPr lang="en-US" sz="4000" b="1" dirty="0">
                <a:solidFill>
                  <a:srgbClr val="FAFAFA"/>
                </a:solidFill>
                <a:latin typeface="Inter" pitchFamily="34" charset="0"/>
                <a:ea typeface="Inter" pitchFamily="34" charset="-122"/>
                <a:cs typeface="Inter" pitchFamily="34" charset="-120"/>
              </a:rPr>
              <a:t>Infrastructure layers</a:t>
            </a:r>
            <a:endParaRPr lang="en-US" sz="4000" dirty="0"/>
          </a:p>
          <a:p>
            <a:pPr indent="0" marL="0">
              <a:lnSpc>
                <a:spcPct val="110000"/>
              </a:lnSpc>
              <a:buNone/>
            </a:pPr>
            <a:r>
              <a:rPr lang="en-US" sz="4000" b="1" dirty="0">
                <a:solidFill>
                  <a:srgbClr val="FAFAFA"/>
                </a:solidFill>
                <a:latin typeface="Inter" pitchFamily="34" charset="0"/>
                <a:ea typeface="Inter" pitchFamily="34" charset="-122"/>
                <a:cs typeface="Inter" pitchFamily="34" charset="-120"/>
              </a:rPr>
              <a:t>don't get built twice.</a:t>
            </a:r>
            <a:endParaRPr lang="en-US" sz="4000" dirty="0"/>
          </a:p>
        </p:txBody>
      </p:sp>
      <p:sp>
        <p:nvSpPr>
          <p:cNvPr id="4" name="Text 2"/>
          <p:cNvSpPr/>
          <p:nvPr/>
        </p:nvSpPr>
        <p:spPr>
          <a:xfrm>
            <a:off x="457200" y="2468880"/>
            <a:ext cx="3931920" cy="274320"/>
          </a:xfrm>
          <a:prstGeom prst="rect">
            <a:avLst/>
          </a:prstGeom>
          <a:noFill/>
          <a:ln/>
        </p:spPr>
        <p:txBody>
          <a:bodyPr wrap="square" lIns="0" tIns="0" rIns="0" bIns="0" rtlCol="0" anchor="ctr"/>
          <a:lstStyle/>
          <a:p>
            <a:pPr indent="0" marL="0">
              <a:buNone/>
            </a:pPr>
            <a:r>
              <a:rPr lang="en-US" sz="1000" b="1" spc="300" kern="0" dirty="0">
                <a:solidFill>
                  <a:srgbClr val="5A5A60"/>
                </a:solidFill>
                <a:latin typeface="Inter" pitchFamily="34" charset="0"/>
                <a:ea typeface="Inter" pitchFamily="34" charset="-122"/>
                <a:cs typeface="Inter" pitchFamily="34" charset="-120"/>
              </a:rPr>
              <a:t>THE PATTERN</a:t>
            </a:r>
            <a:endParaRPr lang="en-US" sz="1000" dirty="0"/>
          </a:p>
        </p:txBody>
      </p:sp>
      <p:sp>
        <p:nvSpPr>
          <p:cNvPr id="5" name="Text 3"/>
          <p:cNvSpPr/>
          <p:nvPr/>
        </p:nvSpPr>
        <p:spPr>
          <a:xfrm>
            <a:off x="457200" y="2834640"/>
            <a:ext cx="3931920" cy="1645920"/>
          </a:xfrm>
          <a:prstGeom prst="rect">
            <a:avLst/>
          </a:prstGeom>
          <a:noFill/>
          <a:ln/>
        </p:spPr>
        <p:txBody>
          <a:bodyPr wrap="square" lIns="0" tIns="0" rIns="0" bIns="0" rtlCol="0" anchor="ctr"/>
          <a:lstStyle/>
          <a:p>
            <a:pPr indent="0" marL="0">
              <a:lnSpc>
                <a:spcPct val="160000"/>
              </a:lnSpc>
              <a:buNone/>
            </a:pPr>
            <a:r>
              <a:rPr lang="en-US" sz="1600" dirty="0">
                <a:solidFill>
                  <a:srgbClr val="FAFAFA"/>
                </a:solidFill>
                <a:latin typeface="Inter" pitchFamily="34" charset="0"/>
                <a:ea typeface="Inter" pitchFamily="34" charset="-122"/>
                <a:cs typeface="Inter" pitchFamily="34" charset="-120"/>
              </a:rPr>
              <a:t>Stripe  →  payments</a:t>
            </a:r>
            <a:endParaRPr lang="en-US" sz="1600" dirty="0"/>
          </a:p>
          <a:p>
            <a:pPr indent="0" marL="0">
              <a:lnSpc>
                <a:spcPct val="160000"/>
              </a:lnSpc>
              <a:buNone/>
            </a:pPr>
            <a:r>
              <a:rPr lang="en-US" sz="1600" dirty="0">
                <a:solidFill>
                  <a:srgbClr val="FAFAFA"/>
                </a:solidFill>
                <a:latin typeface="Inter" pitchFamily="34" charset="0"/>
                <a:ea typeface="Inter" pitchFamily="34" charset="-122"/>
                <a:cs typeface="Inter" pitchFamily="34" charset="-120"/>
              </a:rPr>
              <a:t>Twilio  →  SMS</a:t>
            </a:r>
            <a:endParaRPr lang="en-US" sz="1600" dirty="0"/>
          </a:p>
          <a:p>
            <a:pPr indent="0" marL="0">
              <a:lnSpc>
                <a:spcPct val="160000"/>
              </a:lnSpc>
              <a:buNone/>
            </a:pPr>
            <a:r>
              <a:rPr lang="en-US" sz="1600" dirty="0">
                <a:solidFill>
                  <a:srgbClr val="FAFAFA"/>
                </a:solidFill>
                <a:latin typeface="Inter" pitchFamily="34" charset="0"/>
                <a:ea typeface="Inter" pitchFamily="34" charset="-122"/>
                <a:cs typeface="Inter" pitchFamily="34" charset="-120"/>
              </a:rPr>
              <a:t>Plaid  →  bank data</a:t>
            </a:r>
            <a:endParaRPr lang="en-US" sz="1600" dirty="0"/>
          </a:p>
          <a:p>
            <a:pPr indent="0" marL="0">
              <a:lnSpc>
                <a:spcPct val="160000"/>
              </a:lnSpc>
              <a:buNone/>
            </a:pPr>
            <a:r>
              <a:rPr lang="en-US" sz="1600" dirty="0">
                <a:solidFill>
                  <a:srgbClr val="FAFAFA"/>
                </a:solidFill>
                <a:latin typeface="Inter" pitchFamily="34" charset="0"/>
                <a:ea typeface="Inter" pitchFamily="34" charset="-122"/>
                <a:cs typeface="Inter" pitchFamily="34" charset="-120"/>
              </a:rPr>
              <a:t>Inflection  →  agents</a:t>
            </a:r>
            <a:endParaRPr lang="en-US" sz="1600" dirty="0"/>
          </a:p>
        </p:txBody>
      </p:sp>
      <p:sp>
        <p:nvSpPr>
          <p:cNvPr id="6" name="Text 4"/>
          <p:cNvSpPr/>
          <p:nvPr/>
        </p:nvSpPr>
        <p:spPr>
          <a:xfrm>
            <a:off x="4754880" y="2468880"/>
            <a:ext cx="393192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THE POINT</a:t>
            </a:r>
            <a:endParaRPr lang="en-US" sz="1000" dirty="0"/>
          </a:p>
        </p:txBody>
      </p:sp>
      <p:sp>
        <p:nvSpPr>
          <p:cNvPr id="7" name="Text 5"/>
          <p:cNvSpPr/>
          <p:nvPr/>
        </p:nvSpPr>
        <p:spPr>
          <a:xfrm>
            <a:off x="4754880" y="2834640"/>
            <a:ext cx="3931920" cy="1645920"/>
          </a:xfrm>
          <a:prstGeom prst="rect">
            <a:avLst/>
          </a:prstGeom>
          <a:noFill/>
          <a:ln/>
        </p:spPr>
        <p:txBody>
          <a:bodyPr wrap="square" lIns="0" tIns="0" rIns="0" bIns="0" rtlCol="0" anchor="ctr"/>
          <a:lstStyle/>
          <a:p>
            <a:pPr indent="0" marL="0">
              <a:lnSpc>
                <a:spcPct val="150000"/>
              </a:lnSpc>
              <a:buNone/>
            </a:pPr>
            <a:r>
              <a:rPr lang="en-US" sz="1600" dirty="0">
                <a:solidFill>
                  <a:srgbClr val="FAFAFA"/>
                </a:solidFill>
                <a:latin typeface="Inter" pitchFamily="34" charset="0"/>
                <a:ea typeface="Inter" pitchFamily="34" charset="-122"/>
                <a:cs typeface="Inter" pitchFamily="34" charset="-120"/>
              </a:rPr>
              <a:t>Nobody builds their own payment processor.</a:t>
            </a:r>
            <a:endParaRPr lang="en-US" sz="1600" dirty="0"/>
          </a:p>
          <a:p>
            <a:pPr indent="0" marL="0">
              <a:lnSpc>
                <a:spcPct val="150000"/>
              </a:lnSpc>
              <a:buNone/>
            </a:pPr>
            <a:r>
              <a:rPr lang="en-US" sz="1600" dirty="0">
                <a:solidFill>
                  <a:srgbClr val="FAFAFA"/>
                </a:solidFill>
                <a:latin typeface="Inter" pitchFamily="34" charset="0"/>
                <a:ea typeface="Inter" pitchFamily="34" charset="-122"/>
                <a:cs typeface="Inter" pitchFamily="34" charset="-120"/>
              </a:rPr>
              <a:t>Nobody builds their own SMS gateway.</a:t>
            </a:r>
            <a:endParaRPr lang="en-US" sz="1600" dirty="0"/>
          </a:p>
          <a:p>
            <a:pPr indent="0" marL="0">
              <a:lnSpc>
                <a:spcPct val="150000"/>
              </a:lnSpc>
              <a:buNone/>
            </a:pPr>
            <a:r>
              <a:rPr lang="en-US" sz="1600" dirty="0">
                <a:solidFill>
                  <a:srgbClr val="FAFAFA"/>
                </a:solidFill>
                <a:latin typeface="Inter" pitchFamily="34" charset="0"/>
                <a:ea typeface="Inter" pitchFamily="34" charset="-122"/>
                <a:cs typeface="Inter" pitchFamily="34" charset="-120"/>
              </a:rPr>
              <a:t>No regulated fintech should build their own agent runtime.</a:t>
            </a:r>
            <a:endParaRPr lang="en-US" sz="1600" dirty="0"/>
          </a:p>
          <a:p>
            <a:pPr indent="0" marL="0">
              <a:lnSpc>
                <a:spcPct val="150000"/>
              </a:lnSpc>
              <a:buNone/>
            </a:pPr>
            <a:r>
              <a:rPr lang="en-US" sz="1600" dirty="0">
                <a:solidFill>
                  <a:srgbClr val="FAFAFA"/>
                </a:solidFill>
                <a:latin typeface="Inter" pitchFamily="34" charset="0"/>
                <a:ea typeface="Inter" pitchFamily="34" charset="-122"/>
                <a:cs typeface="Inter" pitchFamily="34" charset="-120"/>
              </a:rPr>
              <a:t/>
            </a:r>
            <a:endParaRPr lang="en-US" sz="1600" dirty="0"/>
          </a:p>
          <a:p>
            <a:pPr indent="0" marL="0">
              <a:lnSpc>
                <a:spcPct val="150000"/>
              </a:lnSpc>
              <a:buNone/>
            </a:pPr>
            <a:r>
              <a:rPr lang="en-US" sz="1600" dirty="0">
                <a:solidFill>
                  <a:srgbClr val="FAFAFA"/>
                </a:solidFill>
                <a:latin typeface="Inter" pitchFamily="34" charset="0"/>
                <a:ea typeface="Inter" pitchFamily="34" charset="-122"/>
                <a:cs typeface="Inter" pitchFamily="34" charset="-120"/>
              </a:rPr>
              <a:t>We are the infrastructure layer. You plug in.</a:t>
            </a:r>
            <a:endParaRPr lang="en-US" sz="1600" dirty="0"/>
          </a:p>
        </p:txBody>
      </p:sp>
      <p:sp>
        <p:nvSpPr>
          <p:cNvPr id="8" name="Text 6"/>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06</a:t>
            </a:r>
            <a:endParaRPr lang="en-US" sz="900" dirty="0"/>
          </a:p>
        </p:txBody>
      </p:sp>
      <p:sp>
        <p:nvSpPr>
          <p:cNvPr id="9" name="Text 7"/>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THE ANALOGY</a:t>
            </a:r>
            <a:endParaRPr lang="en-US" sz="900" dirty="0"/>
          </a:p>
        </p:txBody>
      </p:sp>
      <p:sp>
        <p:nvSpPr>
          <p:cNvPr id="10" name="Text 8"/>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300" kern="0" dirty="0">
                <a:solidFill>
                  <a:srgbClr val="BAFC00"/>
                </a:solidFill>
                <a:latin typeface="Inter" pitchFamily="34" charset="0"/>
                <a:ea typeface="Inter" pitchFamily="34" charset="-122"/>
                <a:cs typeface="Inter" pitchFamily="34" charset="-120"/>
              </a:rPr>
              <a:t>07 · MAYA, ONE WEEK LATER</a:t>
            </a:r>
            <a:endParaRPr lang="en-US" sz="1000" dirty="0"/>
          </a:p>
        </p:txBody>
      </p:sp>
      <p:sp>
        <p:nvSpPr>
          <p:cNvPr id="3" name="Text 1"/>
          <p:cNvSpPr/>
          <p:nvPr/>
        </p:nvSpPr>
        <p:spPr>
          <a:xfrm>
            <a:off x="457200" y="822960"/>
            <a:ext cx="8229600" cy="1554480"/>
          </a:xfrm>
          <a:prstGeom prst="rect">
            <a:avLst/>
          </a:prstGeom>
          <a:noFill/>
          <a:ln/>
        </p:spPr>
        <p:txBody>
          <a:bodyPr wrap="square" lIns="0" tIns="0" rIns="0" bIns="0" rtlCol="0" anchor="ctr"/>
          <a:lstStyle/>
          <a:p>
            <a:pPr indent="0" marL="0">
              <a:lnSpc>
                <a:spcPct val="110000"/>
              </a:lnSpc>
              <a:buNone/>
            </a:pPr>
            <a:r>
              <a:rPr lang="en-US" sz="3600" b="1" dirty="0">
                <a:solidFill>
                  <a:srgbClr val="FAFAFA"/>
                </a:solidFill>
                <a:latin typeface="Inter" pitchFamily="34" charset="0"/>
                <a:ea typeface="Inter" pitchFamily="34" charset="-122"/>
                <a:cs typeface="Inter" pitchFamily="34" charset="-120"/>
              </a:rPr>
              <a:t>This is what</a:t>
            </a:r>
            <a:endParaRPr lang="en-US" sz="3600" dirty="0"/>
          </a:p>
          <a:p>
            <a:pPr indent="0" marL="0">
              <a:lnSpc>
                <a:spcPct val="110000"/>
              </a:lnSpc>
              <a:buNone/>
            </a:pPr>
            <a:r>
              <a:rPr lang="en-US" sz="3600" b="1" dirty="0">
                <a:solidFill>
                  <a:srgbClr val="FAFAFA"/>
                </a:solidFill>
                <a:latin typeface="Inter" pitchFamily="34" charset="0"/>
                <a:ea typeface="Inter" pitchFamily="34" charset="-122"/>
                <a:cs typeface="Inter" pitchFamily="34" charset="-120"/>
              </a:rPr>
              <a:t>"shipped" looks like.</a:t>
            </a:r>
            <a:endParaRPr lang="en-US" sz="3600" dirty="0"/>
          </a:p>
        </p:txBody>
      </p:sp>
      <p:sp>
        <p:nvSpPr>
          <p:cNvPr id="4" name="Shape 2"/>
          <p:cNvSpPr/>
          <p:nvPr/>
        </p:nvSpPr>
        <p:spPr>
          <a:xfrm>
            <a:off x="457200" y="2560320"/>
            <a:ext cx="2743200" cy="1920240"/>
          </a:xfrm>
          <a:prstGeom prst="rect">
            <a:avLst/>
          </a:prstGeom>
          <a:solidFill>
            <a:srgbClr val="141416"/>
          </a:solidFill>
          <a:ln w="9525">
            <a:solidFill>
              <a:srgbClr val="26262A"/>
            </a:solidFill>
            <a:prstDash val="solid"/>
          </a:ln>
        </p:spPr>
        <p:txBody>
          <a:bodyPr/>
          <a:p/>
        </p:txBody>
      </p:sp>
      <p:sp>
        <p:nvSpPr>
          <p:cNvPr id="5" name="Text 3"/>
          <p:cNvSpPr/>
          <p:nvPr/>
        </p:nvSpPr>
        <p:spPr>
          <a:xfrm>
            <a:off x="640080" y="2697480"/>
            <a:ext cx="914400" cy="320040"/>
          </a:xfrm>
          <a:prstGeom prst="rect">
            <a:avLst/>
          </a:prstGeom>
          <a:noFill/>
          <a:ln/>
        </p:spPr>
        <p:txBody>
          <a:bodyPr wrap="square" lIns="0" tIns="0" rIns="0" bIns="0" rtlCol="0" anchor="ctr"/>
          <a:lstStyle/>
          <a:p>
            <a:pPr indent="0" marL="0">
              <a:buNone/>
            </a:pPr>
            <a:r>
              <a:rPr lang="en-US" sz="1100" b="1" spc="300" kern="0" dirty="0">
                <a:solidFill>
                  <a:srgbClr val="BAFC00"/>
                </a:solidFill>
                <a:latin typeface="Inter" pitchFamily="34" charset="0"/>
                <a:ea typeface="Inter" pitchFamily="34" charset="-122"/>
                <a:cs typeface="Inter" pitchFamily="34" charset="-120"/>
              </a:rPr>
              <a:t>MON</a:t>
            </a:r>
            <a:endParaRPr lang="en-US" sz="1100" dirty="0"/>
          </a:p>
        </p:txBody>
      </p:sp>
      <p:sp>
        <p:nvSpPr>
          <p:cNvPr id="6" name="Text 4"/>
          <p:cNvSpPr/>
          <p:nvPr/>
        </p:nvSpPr>
        <p:spPr>
          <a:xfrm>
            <a:off x="640080" y="3063240"/>
            <a:ext cx="2377440" cy="320040"/>
          </a:xfrm>
          <a:prstGeom prst="rect">
            <a:avLst/>
          </a:prstGeom>
          <a:noFill/>
          <a:ln/>
        </p:spPr>
        <p:txBody>
          <a:bodyPr wrap="square" lIns="0" tIns="0" rIns="0" bIns="0" rtlCol="0" anchor="ctr"/>
          <a:lstStyle/>
          <a:p>
            <a:pPr indent="0" marL="0">
              <a:buNone/>
            </a:pPr>
            <a:r>
              <a:rPr lang="en-US" sz="1700" b="1" dirty="0">
                <a:solidFill>
                  <a:srgbClr val="FAFAFA"/>
                </a:solidFill>
                <a:latin typeface="Inter" pitchFamily="34" charset="0"/>
                <a:ea typeface="Inter" pitchFamily="34" charset="-122"/>
                <a:cs typeface="Inter" pitchFamily="34" charset="-120"/>
              </a:rPr>
              <a:t>Maya opens your app</a:t>
            </a:r>
            <a:endParaRPr lang="en-US" sz="1700" dirty="0"/>
          </a:p>
        </p:txBody>
      </p:sp>
      <p:sp>
        <p:nvSpPr>
          <p:cNvPr id="7" name="Text 5"/>
          <p:cNvSpPr/>
          <p:nvPr/>
        </p:nvSpPr>
        <p:spPr>
          <a:xfrm>
            <a:off x="640080" y="3474720"/>
            <a:ext cx="2377440" cy="91440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Types: "Send me my balance every morning at 8am." Inflection maps intent → skill. Checks guardrails. Creates the agent. Schedules it., or mTLS. Credentials go to a managed HashiCorp Vault. Shadow tests verify they work.</a:t>
            </a:r>
            <a:endParaRPr lang="en-US" sz="1100" dirty="0"/>
          </a:p>
        </p:txBody>
      </p:sp>
      <p:sp>
        <p:nvSpPr>
          <p:cNvPr id="8" name="Shape 6"/>
          <p:cNvSpPr/>
          <p:nvPr/>
        </p:nvSpPr>
        <p:spPr>
          <a:xfrm>
            <a:off x="3246120" y="2560320"/>
            <a:ext cx="2743200" cy="1920240"/>
          </a:xfrm>
          <a:prstGeom prst="rect">
            <a:avLst/>
          </a:prstGeom>
          <a:solidFill>
            <a:srgbClr val="141416"/>
          </a:solidFill>
          <a:ln w="9525">
            <a:solidFill>
              <a:srgbClr val="26262A"/>
            </a:solidFill>
            <a:prstDash val="solid"/>
          </a:ln>
        </p:spPr>
        <p:txBody>
          <a:bodyPr/>
          <a:p/>
        </p:txBody>
      </p:sp>
      <p:sp>
        <p:nvSpPr>
          <p:cNvPr id="9" name="Text 7"/>
          <p:cNvSpPr/>
          <p:nvPr/>
        </p:nvSpPr>
        <p:spPr>
          <a:xfrm>
            <a:off x="3429000" y="2697480"/>
            <a:ext cx="914400" cy="320040"/>
          </a:xfrm>
          <a:prstGeom prst="rect">
            <a:avLst/>
          </a:prstGeom>
          <a:noFill/>
          <a:ln/>
        </p:spPr>
        <p:txBody>
          <a:bodyPr wrap="square" lIns="0" tIns="0" rIns="0" bIns="0" rtlCol="0" anchor="ctr"/>
          <a:lstStyle/>
          <a:p>
            <a:pPr indent="0" marL="0">
              <a:buNone/>
            </a:pPr>
            <a:r>
              <a:rPr lang="en-US" sz="1100" b="1" spc="300" kern="0" dirty="0">
                <a:solidFill>
                  <a:srgbClr val="BAFC00"/>
                </a:solidFill>
                <a:latin typeface="Inter" pitchFamily="34" charset="0"/>
                <a:ea typeface="Inter" pitchFamily="34" charset="-122"/>
                <a:cs typeface="Inter" pitchFamily="34" charset="-120"/>
              </a:rPr>
              <a:t>TUE</a:t>
            </a:r>
            <a:endParaRPr lang="en-US" sz="1100" dirty="0"/>
          </a:p>
        </p:txBody>
      </p:sp>
      <p:sp>
        <p:nvSpPr>
          <p:cNvPr id="10" name="Text 8"/>
          <p:cNvSpPr/>
          <p:nvPr/>
        </p:nvSpPr>
        <p:spPr>
          <a:xfrm>
            <a:off x="3429000" y="3063240"/>
            <a:ext cx="2377440" cy="320040"/>
          </a:xfrm>
          <a:prstGeom prst="rect">
            <a:avLst/>
          </a:prstGeom>
          <a:noFill/>
          <a:ln/>
        </p:spPr>
        <p:txBody>
          <a:bodyPr wrap="square" lIns="0" tIns="0" rIns="0" bIns="0" rtlCol="0" anchor="ctr"/>
          <a:lstStyle/>
          <a:p>
            <a:pPr indent="0" marL="0">
              <a:buNone/>
            </a:pPr>
            <a:r>
              <a:rPr lang="en-US" sz="1700" b="1" dirty="0">
                <a:solidFill>
                  <a:srgbClr val="FAFAFA"/>
                </a:solidFill>
                <a:latin typeface="Inter" pitchFamily="34" charset="0"/>
                <a:ea typeface="Inter" pitchFamily="34" charset="-122"/>
                <a:cs typeface="Inter" pitchFamily="34" charset="-120"/>
              </a:rPr>
              <a:t>8am — it fires</a:t>
            </a:r>
            <a:endParaRPr lang="en-US" sz="1700" dirty="0"/>
          </a:p>
        </p:txBody>
      </p:sp>
      <p:sp>
        <p:nvSpPr>
          <p:cNvPr id="11" name="Text 9"/>
          <p:cNvSpPr/>
          <p:nvPr/>
        </p:nvSpPr>
        <p:spPr>
          <a:xfrm>
            <a:off x="3429000" y="3474720"/>
            <a:ext cx="2377440" cy="91440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Maya gets her balance. No prompts. No dashboards. It just works. She can see every step, pause it, roll it back. per connector. We parse it, validate it, generate the system prompt.</a:t>
            </a:r>
            <a:endParaRPr lang="en-US" sz="1100" dirty="0"/>
          </a:p>
        </p:txBody>
      </p:sp>
      <p:sp>
        <p:nvSpPr>
          <p:cNvPr id="12" name="Shape 10"/>
          <p:cNvSpPr/>
          <p:nvPr/>
        </p:nvSpPr>
        <p:spPr>
          <a:xfrm>
            <a:off x="6035040" y="2560320"/>
            <a:ext cx="2743200" cy="1920240"/>
          </a:xfrm>
          <a:prstGeom prst="rect">
            <a:avLst/>
          </a:prstGeom>
          <a:solidFill>
            <a:srgbClr val="141416"/>
          </a:solidFill>
          <a:ln w="9525">
            <a:solidFill>
              <a:srgbClr val="26262A"/>
            </a:solidFill>
            <a:prstDash val="solid"/>
          </a:ln>
        </p:spPr>
        <p:txBody>
          <a:bodyPr/>
          <a:p/>
        </p:txBody>
      </p:sp>
      <p:sp>
        <p:nvSpPr>
          <p:cNvPr id="13" name="Text 11"/>
          <p:cNvSpPr/>
          <p:nvPr/>
        </p:nvSpPr>
        <p:spPr>
          <a:xfrm>
            <a:off x="6217920" y="2697480"/>
            <a:ext cx="914400" cy="320040"/>
          </a:xfrm>
          <a:prstGeom prst="rect">
            <a:avLst/>
          </a:prstGeom>
          <a:noFill/>
          <a:ln/>
        </p:spPr>
        <p:txBody>
          <a:bodyPr wrap="square" lIns="0" tIns="0" rIns="0" bIns="0" rtlCol="0" anchor="ctr"/>
          <a:lstStyle/>
          <a:p>
            <a:pPr indent="0" marL="0">
              <a:buNone/>
            </a:pPr>
            <a:r>
              <a:rPr lang="en-US" sz="1100" b="1" spc="300" kern="0" dirty="0">
                <a:solidFill>
                  <a:srgbClr val="BAFC00"/>
                </a:solidFill>
                <a:latin typeface="Inter" pitchFamily="34" charset="0"/>
                <a:ea typeface="Inter" pitchFamily="34" charset="-122"/>
                <a:cs typeface="Inter" pitchFamily="34" charset="-120"/>
              </a:rPr>
              <a:t>NOW</a:t>
            </a:r>
            <a:endParaRPr lang="en-US" sz="1100" dirty="0"/>
          </a:p>
        </p:txBody>
      </p:sp>
      <p:sp>
        <p:nvSpPr>
          <p:cNvPr id="14" name="Text 12"/>
          <p:cNvSpPr/>
          <p:nvPr/>
        </p:nvSpPr>
        <p:spPr>
          <a:xfrm>
            <a:off x="6217920" y="3063240"/>
            <a:ext cx="2377440" cy="320040"/>
          </a:xfrm>
          <a:prstGeom prst="rect">
            <a:avLst/>
          </a:prstGeom>
          <a:noFill/>
          <a:ln/>
        </p:spPr>
        <p:txBody>
          <a:bodyPr wrap="square" lIns="0" tIns="0" rIns="0" bIns="0" rtlCol="0" anchor="ctr"/>
          <a:lstStyle/>
          <a:p>
            <a:pPr indent="0" marL="0">
              <a:buNone/>
            </a:pPr>
            <a:r>
              <a:rPr lang="en-US" sz="1700" b="1" dirty="0">
                <a:solidFill>
                  <a:srgbClr val="FAFAFA"/>
                </a:solidFill>
                <a:latin typeface="Inter" pitchFamily="34" charset="0"/>
                <a:ea typeface="Inter" pitchFamily="34" charset="-122"/>
                <a:cs typeface="Inter" pitchFamily="34" charset="-120"/>
              </a:rPr>
              <a:t>Your team ships this in one week</a:t>
            </a:r>
            <a:endParaRPr lang="en-US" sz="1700" dirty="0"/>
          </a:p>
        </p:txBody>
      </p:sp>
      <p:sp>
        <p:nvSpPr>
          <p:cNvPr id="15" name="Text 13"/>
          <p:cNvSpPr/>
          <p:nvPr/>
        </p:nvSpPr>
        <p:spPr>
          <a:xfrm>
            <a:off x="6217920" y="3474720"/>
            <a:ext cx="2377440" cy="914400"/>
          </a:xfrm>
          <a:prstGeom prst="rect">
            <a:avLst/>
          </a:prstGeom>
          <a:noFill/>
          <a:ln/>
        </p:spPr>
        <p:txBody>
          <a:bodyPr wrap="square" lIns="0" tIns="0" rIns="0" bIns="0" rtlCol="0" anchor="ctr"/>
          <a:lstStyle/>
          <a:p>
            <a:pPr indent="0" marL="0">
              <a:lnSpc>
                <a:spcPct val="140000"/>
              </a:lnSpc>
              <a:buNone/>
            </a:pPr>
            <a:r>
              <a:rPr lang="en-US" sz="1100" dirty="0">
                <a:solidFill>
                  <a:srgbClr val="8B8B92"/>
                </a:solidFill>
                <a:latin typeface="Inter" pitchFamily="34" charset="0"/>
                <a:ea typeface="Inter" pitchFamily="34" charset="-122"/>
                <a:cs typeface="Inter" pitchFamily="34" charset="-120"/>
              </a:rPr>
              <a:t>Compliance team pulls every API call — tamper-proof, PII-redacted, export-ready. This took one week to ship., budget caps, approval rules. Drop one script tag. Live.</a:t>
            </a:r>
            <a:endParaRPr lang="en-US" sz="1100" dirty="0"/>
          </a:p>
        </p:txBody>
      </p:sp>
      <p:sp>
        <p:nvSpPr>
          <p:cNvPr id="16" name="Text 14"/>
          <p:cNvSpPr/>
          <p:nvPr/>
        </p:nvSpPr>
        <p:spPr>
          <a:xfrm>
            <a:off x="457200" y="4846320"/>
            <a:ext cx="457200" cy="228600"/>
          </a:xfrm>
          <a:prstGeom prst="rect">
            <a:avLst/>
          </a:prstGeom>
          <a:noFill/>
          <a:ln/>
        </p:spPr>
        <p:txBody>
          <a:bodyPr wrap="square" lIns="0" tIns="0" rIns="0" bIns="0" rtlCol="0" anchor="ctr"/>
          <a:lstStyle/>
          <a:p>
            <a:pPr algn="l" indent="0" marL="0">
              <a:buNone/>
            </a:pPr>
            <a:r>
              <a:rPr lang="en-US" sz="900" dirty="0">
                <a:solidFill>
                  <a:srgbClr val="5A5A60"/>
                </a:solidFill>
                <a:latin typeface="Inter" pitchFamily="34" charset="0"/>
                <a:ea typeface="Inter" pitchFamily="34" charset="-122"/>
                <a:cs typeface="Inter" pitchFamily="34" charset="-120"/>
              </a:rPr>
              <a:t>08</a:t>
            </a:r>
            <a:endParaRPr lang="en-US" sz="900" dirty="0"/>
          </a:p>
        </p:txBody>
      </p:sp>
      <p:sp>
        <p:nvSpPr>
          <p:cNvPr id="17" name="Text 15"/>
          <p:cNvSpPr/>
          <p:nvPr/>
        </p:nvSpPr>
        <p:spPr>
          <a:xfrm>
            <a:off x="914400" y="4846320"/>
            <a:ext cx="3657600" cy="228600"/>
          </a:xfrm>
          <a:prstGeom prst="rect">
            <a:avLst/>
          </a:prstGeom>
          <a:noFill/>
          <a:ln/>
        </p:spPr>
        <p:txBody>
          <a:bodyPr wrap="square" lIns="0" tIns="0" rIns="0" bIns="0" rtlCol="0" anchor="ctr"/>
          <a:lstStyle/>
          <a:p>
            <a:pPr algn="l" indent="0" marL="0">
              <a:buNone/>
            </a:pPr>
            <a:r>
              <a:rPr lang="en-US" sz="900" spc="200" kern="0" dirty="0">
                <a:solidFill>
                  <a:srgbClr val="5A5A60"/>
                </a:solidFill>
                <a:latin typeface="Inter" pitchFamily="34" charset="0"/>
                <a:ea typeface="Inter" pitchFamily="34" charset="-122"/>
                <a:cs typeface="Inter" pitchFamily="34" charset="-120"/>
              </a:rPr>
              <a:t>MAYA, ONE WEEK LATER</a:t>
            </a:r>
            <a:endParaRPr lang="en-US" sz="900" dirty="0"/>
          </a:p>
        </p:txBody>
      </p:sp>
      <p:sp>
        <p:nvSpPr>
          <p:cNvPr id="18" name="Text 16"/>
          <p:cNvSpPr/>
          <p:nvPr/>
        </p:nvSpPr>
        <p:spPr>
          <a:xfrm>
            <a:off x="6858000" y="4846320"/>
            <a:ext cx="1828800" cy="228600"/>
          </a:xfrm>
          <a:prstGeom prst="rect">
            <a:avLst/>
          </a:prstGeom>
          <a:noFill/>
          <a:ln/>
        </p:spPr>
        <p:txBody>
          <a:bodyPr wrap="square" lIns="0" tIns="0" rIns="0" bIns="0" rtlCol="0" anchor="ctr"/>
          <a:lstStyle/>
          <a:p>
            <a:pPr algn="r" indent="0" marL="0">
              <a:buNone/>
            </a:pPr>
            <a:r>
              <a:rPr lang="en-US" sz="900" b="1" spc="300" kern="0" dirty="0">
                <a:solidFill>
                  <a:srgbClr val="BAFC00"/>
                </a:solidFill>
                <a:latin typeface="Inter" pitchFamily="34" charset="0"/>
                <a:ea typeface="Inter" pitchFamily="34" charset="-122"/>
                <a:cs typeface="Inter" pitchFamily="34" charset="-120"/>
              </a:rPr>
              <a:t>INFLECTION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Inflection — Pre-Seed Pitch</dc:title>
  <dc:subject>PptxGenJS Presentation</dc:subject>
  <dc:creator>Inflection Network</dc:creator>
  <cp:lastModifiedBy>Inflection Network</cp:lastModifiedBy>
  <cp:revision>1</cp:revision>
  <dcterms:created xsi:type="dcterms:W3CDTF">2026-05-12T14:14:35Z</dcterms:created>
  <dcterms:modified xsi:type="dcterms:W3CDTF">2026-05-12T14:14:35Z</dcterms:modified>
</cp:coreProperties>
</file>