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BAFC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INFLECTION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5A5A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PRE-SEED ·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agent runtime</a:t>
            </a:r>
            <a:endParaRPr lang="en-US" sz="4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BAFC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financial</a:t>
            </a:r>
            <a:endParaRPr lang="en-US" sz="4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BAFC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3931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B8B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Banks and fintechs are about to need AI agents inside their products. We give them the runtime — vault, audit trail, guardrails, UI — so they can ship in a week instead of building it for 18 months.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9525">
            <a:solidFill>
              <a:srgbClr val="2626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8B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inflection.ai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8B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Pratik · Chan · Tejas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AFC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bank wants AI agents.</a:t>
            </a:r>
            <a:endParaRPr lang="en-US" sz="4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None of them can ship.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B8B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Shipping a real agent — one that moves money, books things, makes decisions — requires infrastructure most teams don't have: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3063240"/>
            <a:ext cx="3931920" cy="731520"/>
          </a:xfrm>
          <a:prstGeom prst="rect">
            <a:avLst/>
          </a:prstGeom>
          <a:solidFill>
            <a:srgbClr val="141416"/>
          </a:solidFill>
          <a:ln w="9525">
            <a:solidFill>
              <a:srgbClr val="2626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1729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AFC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Credential vault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4472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8B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do API keys live? Most teams store them wrong.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3063240"/>
            <a:ext cx="3931920" cy="731520"/>
          </a:xfrm>
          <a:prstGeom prst="rect">
            <a:avLst/>
          </a:prstGeom>
          <a:solidFill>
            <a:srgbClr val="141416"/>
          </a:solidFill>
          <a:ln w="9525">
            <a:solidFill>
              <a:srgbClr val="2626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31729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AFC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Tamper-proof audit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34472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8B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won't accept "we think it worked."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3931920" cy="731520"/>
          </a:xfrm>
          <a:prstGeom prst="rect">
            <a:avLst/>
          </a:prstGeom>
          <a:solidFill>
            <a:srgbClr val="141416"/>
          </a:solidFill>
          <a:ln w="9525">
            <a:solidFill>
              <a:srgbClr val="2626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0416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AFC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 guardrails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3159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8B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can the agent do? What needs human approval?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3931920"/>
            <a:ext cx="3931920" cy="731520"/>
          </a:xfrm>
          <a:prstGeom prst="rect">
            <a:avLst/>
          </a:prstGeom>
          <a:solidFill>
            <a:srgbClr val="141416"/>
          </a:solidFill>
          <a:ln w="9525">
            <a:solidFill>
              <a:srgbClr val="2626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40416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AFC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Rollback + streaming UI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43159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8B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need to see every step and undo mistakes.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A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44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5A5A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0" y="4846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BAFC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INFLECTION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AFC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WHY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18-month window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open right now.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BAFC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$0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34290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8B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revenue in financial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8B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 today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0" y="24688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BAFC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18mo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3200400" y="34290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8B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AWS / Google ship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8B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competing platform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0" y="24688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BAFC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12k+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5943600" y="34290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8B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regulated fintechs globally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8B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will need this layer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A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5A5A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NOW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0" y="4846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BAFC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INFLECTION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AFC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THE SHIFT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behavior is changing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 than banks can build.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2560320"/>
            <a:ext cx="3931920" cy="1920240"/>
          </a:xfrm>
          <a:prstGeom prst="rect">
            <a:avLst/>
          </a:prstGeom>
          <a:solidFill>
            <a:srgbClr val="141416"/>
          </a:solidFill>
          <a:ln w="9525">
            <a:solidFill>
              <a:srgbClr val="2626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743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A5A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YESTERDAY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B8B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Maya opens her banking app,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B8B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clicks through 4 screens,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B8B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finds the dashboard,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B8B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reads her balance.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2560320"/>
            <a:ext cx="3931920" cy="1920240"/>
          </a:xfrm>
          <a:prstGeom prst="rect">
            <a:avLst/>
          </a:prstGeom>
          <a:solidFill>
            <a:srgbClr val="141416"/>
          </a:solidFill>
          <a:ln w="19050">
            <a:solidFill>
              <a:srgbClr val="BAFC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2743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AFC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SHE'LL EXPECT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37760" y="32004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"Cancel any subscription I haven't used in 30 days. Move that money to savings."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A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5A5A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SHIFT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0" y="4846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BAFC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INFLECTION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AFC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Inflection is the runtime.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bring the APIs.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A5A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BRING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banking API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 rails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KYC / KYB provider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Comms layer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754880" y="2468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AFC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BRING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54880" y="283464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execution runtime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Credential vault + audit log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+ guardrail engine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Human-in-the-loop approvals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White-labeled chat UI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A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5A5A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0" y="4846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BAFC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INFLECTION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AFC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· PRODUCT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zero to a live agent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under a week.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2560320"/>
            <a:ext cx="2743200" cy="1920240"/>
          </a:xfrm>
          <a:prstGeom prst="rect">
            <a:avLst/>
          </a:prstGeom>
          <a:solidFill>
            <a:srgbClr val="141416"/>
          </a:solidFill>
          <a:ln w="9525">
            <a:solidFill>
              <a:srgbClr val="2626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697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AFC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APIs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34747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B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OAuth, API key, or mTLS. Credentials go to a managed HashiCorp Vault. Shadow tests verify they work.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2560320"/>
            <a:ext cx="2743200" cy="1920240"/>
          </a:xfrm>
          <a:prstGeom prst="rect">
            <a:avLst/>
          </a:prstGeom>
          <a:solidFill>
            <a:srgbClr val="141416"/>
          </a:solidFill>
          <a:ln w="9525">
            <a:solidFill>
              <a:srgbClr val="2626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2697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AFC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29000" y="3063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skills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29000" y="34747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B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short markdown file per connector. We parse it, validate it, generate the system prompt.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2560320"/>
            <a:ext cx="2743200" cy="1920240"/>
          </a:xfrm>
          <a:prstGeom prst="rect">
            <a:avLst/>
          </a:prstGeom>
          <a:solidFill>
            <a:srgbClr val="141416"/>
          </a:solidFill>
          <a:ln w="9525">
            <a:solidFill>
              <a:srgbClr val="2626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2697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AFC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0" y="3063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guardrails + ship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217920" y="34747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B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Allowlists, rate limits, budget caps, approval rules. Drop one script tag. Live.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A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44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5A5A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0" y="4846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BAFC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INFLECTION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AFC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· MARKET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regulated fintech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a customer.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solidFill>
            <a:srgbClr val="141416"/>
          </a:solidFill>
          <a:ln w="6350">
            <a:solidFill>
              <a:srgbClr val="2626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560320"/>
            <a:ext cx="73152" cy="457200"/>
          </a:xfrm>
          <a:prstGeom prst="rect">
            <a:avLst/>
          </a:prstGeom>
          <a:solidFill>
            <a:srgbClr val="BAFC00"/>
          </a:solidFill>
          <a:ln w="12700">
            <a:solidFill>
              <a:srgbClr val="BAFC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670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5A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264261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$24B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834640" y="267919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fintech infrastructure spend by 2030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5486400" cy="457200"/>
          </a:xfrm>
          <a:prstGeom prst="rect">
            <a:avLst/>
          </a:prstGeom>
          <a:solidFill>
            <a:srgbClr val="141416"/>
          </a:solidFill>
          <a:ln w="6350">
            <a:solidFill>
              <a:srgbClr val="2626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108960"/>
            <a:ext cx="73152" cy="457200"/>
          </a:xfrm>
          <a:prstGeom prst="rect">
            <a:avLst/>
          </a:prstGeom>
          <a:solidFill>
            <a:srgbClr val="BAFC00"/>
          </a:solidFill>
          <a:ln w="12700">
            <a:solidFill>
              <a:srgbClr val="BAFC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2186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5A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319125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$4.8B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834640" y="322783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Neobanks + digital banks ready to embed agents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2286000" cy="457200"/>
          </a:xfrm>
          <a:prstGeom prst="rect">
            <a:avLst/>
          </a:prstGeom>
          <a:solidFill>
            <a:srgbClr val="141416"/>
          </a:solidFill>
          <a:ln w="6350">
            <a:solidFill>
              <a:srgbClr val="2626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657600"/>
            <a:ext cx="73152" cy="457200"/>
          </a:xfrm>
          <a:prstGeom prst="rect">
            <a:avLst/>
          </a:prstGeom>
          <a:solidFill>
            <a:srgbClr val="BAFC00"/>
          </a:solidFill>
          <a:ln w="12700">
            <a:solidFill>
              <a:srgbClr val="BAFC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7673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5A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71600" y="373989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$120M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834640" y="377647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3-year capture: 100 mid-market fintechs at ~$100K ARR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5A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Bottom-up: 12,000+ regulated fintechs globally · avg seat $80–150K ARR · adjacent expansion into agent commerce &amp; B2B payments.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A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144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5A5A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0" y="4846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BAFC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INFLECTION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AFC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· MOAT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Horizontal platforms can't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compliance-first.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926080" y="2331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5A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in-house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46320" y="2331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5A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AWS Bedrock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766560" y="2331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AFC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Inflection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8229600" cy="0"/>
          </a:xfrm>
          <a:prstGeom prst="line">
            <a:avLst/>
          </a:prstGeom>
          <a:noFill/>
          <a:ln w="9525">
            <a:solidFill>
              <a:srgbClr val="2626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to first agent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26080" y="2834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B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12–18 months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2834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B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months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66560" y="2834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FC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week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200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Financial-grade audit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26080" y="3200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B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it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3200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B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66560" y="3200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FC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in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566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KYC + identity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26080" y="3566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B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it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3566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B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66560" y="3566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FC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931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White-labeled UI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926080" y="3931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B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it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3931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B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66560" y="3931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FC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297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by default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926080" y="4297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B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4297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B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66560" y="4297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FC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A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144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5A5A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MOAT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58000" y="4846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BAFC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INFLECTION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AFC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· TRACTION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Built. Shipped. Validated.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3931920" cy="1097280"/>
          </a:xfrm>
          <a:prstGeom prst="rect">
            <a:avLst/>
          </a:prstGeom>
          <a:solidFill>
            <a:srgbClr val="141416"/>
          </a:solidFill>
          <a:ln w="9525">
            <a:solidFill>
              <a:srgbClr val="2626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011680"/>
            <a:ext cx="73152" cy="1097280"/>
          </a:xfrm>
          <a:prstGeom prst="rect">
            <a:avLst/>
          </a:prstGeom>
          <a:solidFill>
            <a:srgbClr val="BAFC00"/>
          </a:solidFill>
          <a:ln w="12700">
            <a:solidFill>
              <a:srgbClr val="BAFC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488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AFC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423160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partners signed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23160" y="2514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B8B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Maersk, WeWork Labs, GE Healthcare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2011680"/>
            <a:ext cx="3931920" cy="1097280"/>
          </a:xfrm>
          <a:prstGeom prst="rect">
            <a:avLst/>
          </a:prstGeom>
          <a:solidFill>
            <a:srgbClr val="141416"/>
          </a:solidFill>
          <a:ln w="9525">
            <a:solidFill>
              <a:srgbClr val="2626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2011680"/>
            <a:ext cx="73152" cy="1097280"/>
          </a:xfrm>
          <a:prstGeom prst="rect">
            <a:avLst/>
          </a:prstGeom>
          <a:solidFill>
            <a:srgbClr val="BAFC00"/>
          </a:solidFill>
          <a:ln w="12700">
            <a:solidFill>
              <a:srgbClr val="BAFC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21488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AFC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v1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720840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runtime in production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20840" y="2514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B8B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Vault, audit log, policy engine, kill switch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3931920" cy="1097280"/>
          </a:xfrm>
          <a:prstGeom prst="rect">
            <a:avLst/>
          </a:prstGeom>
          <a:solidFill>
            <a:srgbClr val="141416"/>
          </a:solidFill>
          <a:ln w="9525">
            <a:solidFill>
              <a:srgbClr val="2626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337560"/>
            <a:ext cx="73152" cy="1097280"/>
          </a:xfrm>
          <a:prstGeom prst="rect">
            <a:avLst/>
          </a:prstGeom>
          <a:solidFill>
            <a:srgbClr val="BAFC00"/>
          </a:solidFill>
          <a:ln w="12700">
            <a:solidFill>
              <a:srgbClr val="BAFC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4747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AFC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42316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engineering team shipped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423160" y="3840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B8B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Pratik (CEO), Chan (CTO), Tejas (CDO)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3337560"/>
            <a:ext cx="3931920" cy="1097280"/>
          </a:xfrm>
          <a:prstGeom prst="rect">
            <a:avLst/>
          </a:prstGeom>
          <a:solidFill>
            <a:srgbClr val="141416"/>
          </a:solidFill>
          <a:ln w="9525">
            <a:solidFill>
              <a:srgbClr val="2626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337560"/>
            <a:ext cx="73152" cy="1097280"/>
          </a:xfrm>
          <a:prstGeom prst="rect">
            <a:avLst/>
          </a:prstGeom>
          <a:solidFill>
            <a:srgbClr val="BAFC00"/>
          </a:solidFill>
          <a:ln w="12700">
            <a:solidFill>
              <a:srgbClr val="BAFC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34747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AFC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72084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paying pilot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20840" y="3840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B8B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close: Month 4 of pre-seed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A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144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5A5A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58000" y="4846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BAFC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INFLECTION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AFC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·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months to revenue.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AFC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2788920"/>
            <a:ext cx="164592" cy="164592"/>
          </a:xfrm>
          <a:prstGeom prst="ellipse">
            <a:avLst/>
          </a:prstGeom>
          <a:solidFill>
            <a:srgbClr val="BAFC00"/>
          </a:solidFill>
          <a:ln w="12700">
            <a:solidFill>
              <a:srgbClr val="BAFC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2871216"/>
            <a:ext cx="1965960" cy="0"/>
          </a:xfrm>
          <a:prstGeom prst="line">
            <a:avLst/>
          </a:prstGeom>
          <a:noFill/>
          <a:ln w="19050">
            <a:solidFill>
              <a:srgbClr val="2626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108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Runtime live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B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v1 shipped. 3 design partners actively integrating.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87752" y="2377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AFC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 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87752" y="2788920"/>
            <a:ext cx="164592" cy="164592"/>
          </a:xfrm>
          <a:prstGeom prst="ellipse">
            <a:avLst/>
          </a:prstGeom>
          <a:solidFill>
            <a:srgbClr val="BAFC00"/>
          </a:solidFill>
          <a:ln w="12700">
            <a:solidFill>
              <a:srgbClr val="BAFC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52344" y="2871216"/>
            <a:ext cx="1965960" cy="0"/>
          </a:xfrm>
          <a:prstGeom prst="line">
            <a:avLst/>
          </a:prstGeom>
          <a:noFill/>
          <a:ln w="19050">
            <a:solidFill>
              <a:srgbClr val="2626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87752" y="3108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Pilots in production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87752" y="34747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B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user-facing agents at 3–5 pilot companies.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18304" y="2377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AFC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 6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18304" y="2788920"/>
            <a:ext cx="164592" cy="164592"/>
          </a:xfrm>
          <a:prstGeom prst="ellipse">
            <a:avLst/>
          </a:prstGeom>
          <a:solidFill>
            <a:srgbClr val="BAFC00"/>
          </a:solidFill>
          <a:ln w="12700">
            <a:solidFill>
              <a:srgbClr val="BAFC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82896" y="2871216"/>
            <a:ext cx="1965960" cy="0"/>
          </a:xfrm>
          <a:prstGeom prst="line">
            <a:avLst/>
          </a:prstGeom>
          <a:noFill/>
          <a:ln w="19050">
            <a:solidFill>
              <a:srgbClr val="2626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8304" y="3108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complete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18304" y="34747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B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HITL, SIEM export, SOC 2 Type 1 in progress.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48856" y="2377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AFC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 12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48856" y="2788920"/>
            <a:ext cx="164592" cy="164592"/>
          </a:xfrm>
          <a:prstGeom prst="ellipse">
            <a:avLst/>
          </a:prstGeom>
          <a:solidFill>
            <a:srgbClr val="BAFC00"/>
          </a:solidFill>
          <a:ln w="12700">
            <a:solidFill>
              <a:srgbClr val="BAFC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48856" y="3108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$1M ARR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48856" y="34747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B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10+ paying customers. Marketplace launched.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A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144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5A5A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58000" y="4846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BAFC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INFLECTION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AFC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· TEAM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this.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2194560"/>
            <a:ext cx="2743200" cy="2103120"/>
          </a:xfrm>
          <a:prstGeom prst="rect">
            <a:avLst/>
          </a:prstGeom>
          <a:solidFill>
            <a:srgbClr val="141416"/>
          </a:solidFill>
          <a:ln w="9525">
            <a:solidFill>
              <a:srgbClr val="2626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423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Pratik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AFC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32461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B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Stablecoin merchant infra at Levitate Labs. Built first version of Inflection. Closed Maersk, WeWork, GE.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2194560"/>
            <a:ext cx="2743200" cy="2103120"/>
          </a:xfrm>
          <a:prstGeom prst="rect">
            <a:avLst/>
          </a:prstGeom>
          <a:solidFill>
            <a:srgbClr val="141416"/>
          </a:solidFill>
          <a:ln w="9525">
            <a:solidFill>
              <a:srgbClr val="2626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2423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74720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AFC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0" y="32461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B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engineer · 4yr. Built Inflection's on-chain layer and policy engine. Maintains Arrakis (open-source security scanner).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2194560"/>
            <a:ext cx="2743200" cy="2103120"/>
          </a:xfrm>
          <a:prstGeom prst="rect">
            <a:avLst/>
          </a:prstGeom>
          <a:solidFill>
            <a:srgbClr val="141416"/>
          </a:solidFill>
          <a:ln w="9525">
            <a:solidFill>
              <a:srgbClr val="2626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2423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Tejas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263640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AFC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63640" y="32461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B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+ product. Shipped Inflection's developer experience, SDK, and white-labeled chat UI from scratch.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A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44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5A5A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0" y="4846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BAFC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INFLECTION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AFC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· THE ASK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Raising $1.5M</a:t>
            </a:r>
            <a:endParaRPr lang="en-US" sz="4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pre-seed.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A5A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OF FUNDS · 18 MONTH RUNWAY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3017520"/>
            <a:ext cx="2743200" cy="1371600"/>
          </a:xfrm>
          <a:prstGeom prst="rect">
            <a:avLst/>
          </a:prstGeom>
          <a:solidFill>
            <a:srgbClr val="141416"/>
          </a:solidFill>
          <a:ln w="9525">
            <a:solidFill>
              <a:srgbClr val="2626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154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BAFC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85800" y="37307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40050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B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senior backend, 1 frontend, 1 DevSecOps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3017520"/>
            <a:ext cx="2743200" cy="1371600"/>
          </a:xfrm>
          <a:prstGeom prst="rect">
            <a:avLst/>
          </a:prstGeom>
          <a:solidFill>
            <a:srgbClr val="141416"/>
          </a:solidFill>
          <a:ln w="9525">
            <a:solidFill>
              <a:srgbClr val="2626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3154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BAFC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474720" y="37307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Go-to-market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40050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B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sales hire, 5 pilot conversions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3017520"/>
            <a:ext cx="2743200" cy="1371600"/>
          </a:xfrm>
          <a:prstGeom prst="rect">
            <a:avLst/>
          </a:prstGeom>
          <a:solidFill>
            <a:srgbClr val="141416"/>
          </a:solidFill>
          <a:ln w="9525">
            <a:solidFill>
              <a:srgbClr val="2626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3154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BAFC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263640" y="37307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+ ops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40050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B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2 Type 1, legal, infra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A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44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5A5A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0" y="4846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BAFC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INFLECTION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6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window</a:t>
            </a:r>
            <a:endParaRPr lang="en-US" sz="5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6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opens once.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457200" y="3749040"/>
            <a:ext cx="1371600" cy="0"/>
          </a:xfrm>
          <a:prstGeom prst="line">
            <a:avLst/>
          </a:prstGeom>
          <a:noFill/>
          <a:ln w="38100">
            <a:solidFill>
              <a:srgbClr val="BAF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8B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Let's build the runtime every regulated fintech runs 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9525">
            <a:solidFill>
              <a:srgbClr val="2626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AFC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inflection.ai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8B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contact@inflection.ai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Inflection — Pre-Seed Pitch</dc:title>
  <dc:subject>PptxGenJS Presentation</dc:subject>
  <dc:creator>Inflection Network</dc:creator>
  <cp:lastModifiedBy>Inflection Network</cp:lastModifiedBy>
  <cp:revision>1</cp:revision>
  <dcterms:created xsi:type="dcterms:W3CDTF">2026-05-12T14:14:35Z</dcterms:created>
  <dcterms:modified xsi:type="dcterms:W3CDTF">2026-05-12T14:14:35Z</dcterms:modified>
</cp:coreProperties>
</file>